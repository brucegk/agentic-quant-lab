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**Timing:** 25 seconds · 0:00–0:25</a:t>
            </a:r>
          </a:p>
          <a:p/>
          <a:p>
            <a:r>
              <a:t>### Goal</a:t>
            </a:r>
          </a:p>
          <a:p>
            <a:r>
              <a:t>Introduce agents as researchers, not stock-picking oracles.</a:t>
            </a:r>
          </a:p>
          <a:p/>
          <a:p>
            <a:r>
              <a:t>### Script</a:t>
            </a:r>
          </a:p>
          <a:p>
            <a:r>
              <a:t>Most AI trading demos start by asking an LLM what stock to buy; I wanted to build the opposite.</a:t>
            </a:r>
          </a:p>
          <a:p/>
          <a:p>
            <a:r>
              <a:t>Agentic Quant Lab asks which ideas deserve to survive. Agents behave like</a:t>
            </a:r>
          </a:p>
          <a:p>
            <a:r>
              <a:t>researchers: they propose hypotheses. Evidence and deterministic controls decide</a:t>
            </a:r>
          </a:p>
          <a:p>
            <a:r>
              <a:t>what happens next.</a:t>
            </a:r>
          </a:p>
          <a:p/>
          <a:p>
            <a:r>
              <a:t>### Transition</a:t>
            </a:r>
          </a:p>
          <a:p>
            <a:r>
              <a:t>Because generating a trading idea is the easy part.</a:t>
            </a:r>
          </a:p>
          <a:p/>
          <a:p>
            <a:r>
              <a:t>### Presenter cues — not spoken</a:t>
            </a:r>
          </a:p>
          <a:p>
            <a:r>
              <a:t>Pause after “the opposite.” Point to Research → Evidence → Risk → Execution.</a:t>
            </a:r>
          </a:p>
          <a:p>
            <a:r>
              <a:t>Autonomous research is the destination; today's agent is a scripted stand-in.</a:t>
            </a:r>
          </a:p>
          <a:p/>
          <a:p/>
          <a:p/>
          <a:p>
            <a:r>
              <a:t>EDITABLE SLIDE SPECIFICATION / SOURCES</a:t>
            </a:r>
          </a:p>
          <a:p/>
          <a:p>
            <a:r>
              <a:t>### On-slide text</a:t>
            </a:r>
          </a:p>
          <a:p>
            <a:r>
              <a:t>```text</a:t>
            </a:r>
          </a:p>
          <a:p>
            <a:r>
              <a:t>From AI-generated hypotheses to</a:t>
            </a:r>
          </a:p>
          <a:p>
            <a:r>
              <a:t>evidence-backed trading strategies</a:t>
            </a:r>
          </a:p>
          <a:p>
            <a:r>
              <a:t>Agents research.</a:t>
            </a:r>
          </a:p>
          <a:p>
            <a:r>
              <a:t>Deterministic systems decide.</a:t>
            </a:r>
          </a:p>
          <a:p>
            <a:r>
              <a:t>RESEARCH</a:t>
            </a:r>
          </a:p>
          <a:p>
            <a:r>
              <a:t>EVIDENCE</a:t>
            </a:r>
          </a:p>
          <a:p>
            <a:r>
              <a:t>RISK</a:t>
            </a:r>
          </a:p>
          <a:p>
            <a:r>
              <a:t>EXECUTION / DRY RUN</a:t>
            </a:r>
          </a:p>
          <a:p>
            <a:r>
              <a:t>VISION → DISCIPLINED RESEARCH</a:t>
            </a:r>
          </a:p>
          <a:p>
            <a:r>
              <a:t>```</a:t>
            </a:r>
          </a:p>
          <a:p>
            <a:r>
              <a:t>### Visual layout</a:t>
            </a:r>
          </a:p>
          <a:p>
            <a:r>
              <a:t>Oversized two-line title left; four connected blocks right. Violet research</a:t>
            </a:r>
          </a:p>
          <a:p>
            <a:r>
              <a:t>flows into mint evidence, risk, and dry-run execution.</a:t>
            </a:r>
          </a:p>
          <a:p>
            <a:r>
              <a:t>### Data source</a:t>
            </a:r>
          </a:p>
          <a:p>
            <a:r>
              <a:t>Product vision and current boundaries in the [README](../README.md); no metrics.</a:t>
            </a:r>
          </a:p>
          <a:p>
            <a:r>
              <a:t>### Speaker-note summary</a:t>
            </a:r>
          </a:p>
          <a:p>
            <a:r>
              <a:t>Build the opposite of an LLM stock-picker. Agents behave like researchers.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**Timing:** 30 seconds · 0:25–0:55</a:t>
            </a:r>
          </a:p>
          <a:p/>
          <a:p>
            <a:r>
              <a:t>### Goal</a:t>
            </a:r>
          </a:p>
          <a:p>
            <a:r>
              <a:t>Make rejecting bad ideas the product's central problem.</a:t>
            </a:r>
          </a:p>
          <a:p/>
          <a:p>
            <a:r>
              <a:t>### Script</a:t>
            </a:r>
          </a:p>
          <a:p>
            <a:r>
              <a:t>A model can produce a convincing reason to buy almost anything.</a:t>
            </a:r>
          </a:p>
          <a:p/>
          <a:p>
            <a:r>
              <a:t>But did the backtest use tomorrow's information? Did costs erase the edge?</a:t>
            </a:r>
          </a:p>
          <a:p>
            <a:r>
              <a:t>Did we quietly leave out companies that disappeared?</a:t>
            </a:r>
          </a:p>
          <a:p/>
          <a:p>
            <a:r>
              <a:t>A fluent explanation doesn't answer those questions. Neither does a beautiful</a:t>
            </a:r>
          </a:p>
          <a:p>
            <a:r>
              <a:t>equity curve. The hard problem isn't generating strategies. It's rejecting bad ones.</a:t>
            </a:r>
          </a:p>
          <a:p/>
          <a:p>
            <a:r>
              <a:t>### Transition</a:t>
            </a:r>
          </a:p>
          <a:p>
            <a:r>
              <a:t>That requires a different architecture.</a:t>
            </a:r>
          </a:p>
          <a:p/>
          <a:p>
            <a:r>
              <a:t>### Presenter cues — not spoken</a:t>
            </a:r>
          </a:p>
          <a:p>
            <a:r>
              <a:t>Contrast the red shortcut with the evidence pipeline. “Trade” is future-only;</a:t>
            </a:r>
          </a:p>
          <a:p>
            <a:r>
              <a:t>the implemented path ends at a dry run.</a:t>
            </a:r>
          </a:p>
          <a:p/>
          <a:p/>
          <a:p/>
          <a:p>
            <a:r>
              <a:t>EDITABLE SLIDE SPECIFICATION / SOURCES</a:t>
            </a:r>
          </a:p>
          <a:p/>
          <a:p>
            <a:r>
              <a:t>### On-slide text</a:t>
            </a:r>
          </a:p>
          <a:p>
            <a:r>
              <a:t>```text</a:t>
            </a:r>
          </a:p>
          <a:p>
            <a:r>
              <a:t>TYPICAL AI TRADING BOT</a:t>
            </a:r>
          </a:p>
          <a:p>
            <a:r>
              <a:t>LLM</a:t>
            </a:r>
          </a:p>
          <a:p>
            <a:r>
              <a:t>“Bullish”</a:t>
            </a:r>
          </a:p>
          <a:p>
            <a:r>
              <a:t>BUY</a:t>
            </a:r>
          </a:p>
          <a:p>
            <a:r>
              <a:t>AGENTIC QUANT LAB</a:t>
            </a:r>
          </a:p>
          <a:p>
            <a:r>
              <a:t>Hypothesis</a:t>
            </a:r>
          </a:p>
          <a:p>
            <a:r>
              <a:t>Evidence</a:t>
            </a:r>
          </a:p>
          <a:p>
            <a:r>
              <a:t>Falsification</a:t>
            </a:r>
          </a:p>
          <a:p>
            <a:r>
              <a:t>RiskGate</a:t>
            </a:r>
          </a:p>
          <a:p>
            <a:r>
              <a:t>Trade*</a:t>
            </a:r>
          </a:p>
          <a:p>
            <a:r>
              <a:t>Hallucinated reasoning</a:t>
            </a:r>
          </a:p>
          <a:p>
            <a:r>
              <a:t>Backtest overfitting</a:t>
            </a:r>
          </a:p>
          <a:p>
            <a:r>
              <a:t>Look-ahead / bad data</a:t>
            </a:r>
          </a:p>
          <a:p>
            <a:r>
              <a:t>Uncontrolled execution</a:t>
            </a:r>
          </a:p>
          <a:p>
            <a:r>
              <a:t>The hard problem isn't generating strategies.</a:t>
            </a:r>
          </a:p>
          <a:p>
            <a:r>
              <a:t>It's rejecting bad ones.</a:t>
            </a:r>
          </a:p>
          <a:p>
            <a:r>
              <a:t>*Future only. Today ends at dry run.</a:t>
            </a:r>
          </a:p>
          <a:p>
            <a:r>
              <a:t>```</a:t>
            </a:r>
          </a:p>
          <a:p>
            <a:r>
              <a:t>### Visual layout</a:t>
            </a:r>
          </a:p>
          <a:p>
            <a:r>
              <a:t>Red shortcut above a full-width mint evidence pipeline. Wide labels must not</a:t>
            </a:r>
          </a:p>
          <a:p>
            <a:r>
              <a:t>split a word. Four risk labels; two-line closing statement.</a:t>
            </a:r>
          </a:p>
          <a:p>
            <a:r>
              <a:t>### Data source</a:t>
            </a:r>
          </a:p>
          <a:p>
            <a:r>
              <a:t>Architecture and scientific boundaries in the [README](../README.md).</a:t>
            </a:r>
          </a:p>
          <a:p>
            <a:r>
              <a:t>### Speaker-note summary</a:t>
            </a:r>
          </a:p>
          <a:p>
            <a:r>
              <a:t>Fluent reasoning is not evidence. Rejecting weak ideas is the difficult part.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**Timing:** 35 seconds · 0:55–1:30</a:t>
            </a:r>
          </a:p>
          <a:p/>
          <a:p>
            <a:r>
              <a:t>### Goal</a:t>
            </a:r>
          </a:p>
          <a:p>
            <a:r>
              <a:t>Separate agent reasoning from numerical and execution authority.</a:t>
            </a:r>
          </a:p>
          <a:p/>
          <a:p>
            <a:r>
              <a:t>### Script</a:t>
            </a:r>
          </a:p>
          <a:p>
            <a:r>
              <a:t>There are two lanes here. Agents research and reason. Deterministic code owns</a:t>
            </a:r>
          </a:p>
          <a:p>
            <a:r>
              <a:t>the data checks, calculations, backtests, portfolio, and risk limits.</a:t>
            </a:r>
          </a:p>
          <a:p/>
          <a:p>
            <a:r>
              <a:t>Every hypothesis becomes an experiment. Results face falsification, then a</a:t>
            </a:r>
          </a:p>
          <a:p>
            <a:r>
              <a:t>tournament. Only a surviving proposal reaches the RiskGate. Evidence travels</a:t>
            </a:r>
          </a:p>
          <a:p>
            <a:r>
              <a:t>alongside the process.</a:t>
            </a:r>
          </a:p>
          <a:p/>
          <a:p>
            <a:r>
              <a:t>Today's demo agent is scripted, not an LLM. Robinhood is future work.</a:t>
            </a:r>
          </a:p>
          <a:p/>
          <a:p>
            <a:r>
              <a:t>Agents propose. Evidence decides. RiskGate authorizes.</a:t>
            </a:r>
          </a:p>
          <a:p/>
          <a:p>
            <a:r>
              <a:t>### Transition</a:t>
            </a:r>
          </a:p>
          <a:p>
            <a:r>
              <a:t>And the first test is whether the idea can prove itself wrong.</a:t>
            </a:r>
          </a:p>
          <a:p/>
          <a:p>
            <a:r>
              <a:t>### Presenter cues — not spoken</a:t>
            </a:r>
          </a:p>
          <a:p>
            <a:r>
              <a:t>Trace both lanes and the evidence sidecar. The demo receipt is separate from</a:t>
            </a:r>
          </a:p>
          <a:p>
            <a:r>
              <a:t>the unchanged Phase 0 production ledger.</a:t>
            </a:r>
          </a:p>
          <a:p/>
          <a:p/>
          <a:p/>
          <a:p>
            <a:r>
              <a:t>EDITABLE SLIDE SPECIFICATION / SOURCES</a:t>
            </a:r>
          </a:p>
          <a:p/>
          <a:p>
            <a:r>
              <a:t>### On-slide text</a:t>
            </a:r>
          </a:p>
          <a:p>
            <a:r>
              <a:t>```text</a:t>
            </a:r>
          </a:p>
          <a:p>
            <a:r>
              <a:t>AGENTIC LAYER</a:t>
            </a:r>
          </a:p>
          <a:p>
            <a:r>
              <a:t>DETERMINISTIC CODE</a:t>
            </a:r>
          </a:p>
          <a:p>
            <a:r>
              <a:t>Research Agent</a:t>
            </a:r>
          </a:p>
          <a:p>
            <a:r>
              <a:t>Hypothesis</a:t>
            </a:r>
          </a:p>
          <a:p>
            <a:r>
              <a:t>Experiment</a:t>
            </a:r>
          </a:p>
          <a:p>
            <a:r>
              <a:t>Backtest</a:t>
            </a:r>
          </a:p>
          <a:p>
            <a:r>
              <a:t>Falsification</a:t>
            </a:r>
          </a:p>
          <a:p>
            <a:r>
              <a:t>Tournament</a:t>
            </a:r>
          </a:p>
          <a:p>
            <a:r>
              <a:t>Portfolio</a:t>
            </a:r>
          </a:p>
          <a:p>
            <a:r>
              <a:t>RiskGate</a:t>
            </a:r>
          </a:p>
          <a:p>
            <a:r>
              <a:t>Execution</a:t>
            </a:r>
          </a:p>
          <a:p>
            <a:r>
              <a:t>Robinhood</a:t>
            </a:r>
          </a:p>
          <a:p>
            <a:r>
              <a:t>FUTURE</a:t>
            </a:r>
          </a:p>
          <a:p>
            <a:r>
              <a:t>EVIDENCE / PROVENANCE</a:t>
            </a:r>
          </a:p>
          <a:p>
            <a:r>
              <a:t>Hypotheses · inputs · results · risk decisions</a:t>
            </a:r>
          </a:p>
          <a:p>
            <a:r>
              <a:t>Target architecture. Scripted agent today; demo receipts ≠ Phase 0 ledger.</a:t>
            </a:r>
          </a:p>
          <a:p>
            <a:r>
              <a:t>```</a:t>
            </a:r>
          </a:p>
          <a:p>
            <a:r>
              <a:t>### Visual layout</a:t>
            </a:r>
          </a:p>
          <a:p>
            <a:r>
              <a:t>Violet reasoning lane left. Mint deterministic nodes snake across two rows.</a:t>
            </a:r>
          </a:p>
          <a:p>
            <a:r>
              <a:t>Evidence sidecar below; future Robinhood muted with a dashed outline.</a:t>
            </a:r>
          </a:p>
          <a:p>
            <a:r>
              <a:t>### Data source</a:t>
            </a:r>
          </a:p>
          <a:p>
            <a:r>
              <a:t>[Agent interface](../src/agentic_quant_lab/agents.py),</a:t>
            </a:r>
          </a:p>
          <a:p>
            <a:r>
              <a:t>[demo orchestration](../src/agentic_quant_lab/demo.py), and</a:t>
            </a:r>
          </a:p>
          <a:p>
            <a:r>
              <a:t>[execution boundary](../src/agentic_quant_lab/execution.py).</a:t>
            </a:r>
          </a:p>
          <a:p>
            <a:r>
              <a:t>### Speaker-note summary</a:t>
            </a:r>
          </a:p>
          <a:p>
            <a:r>
              <a:t>Agents propose. Evidence decides. RiskGate authorizes.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**Timing:** 35 seconds · 1:30–2:05</a:t>
            </a:r>
          </a:p>
          <a:p/>
          <a:p>
            <a:r>
              <a:t>### Goal</a:t>
            </a:r>
          </a:p>
          <a:p>
            <a:r>
              <a:t>Explain three scientific controls without implying they establish alpha.</a:t>
            </a:r>
          </a:p>
          <a:p/>
          <a:p>
            <a:r>
              <a:t>### Script</a:t>
            </a:r>
          </a:p>
          <a:p>
            <a:r>
              <a:t>First, a null control: a signal with no edge should not magically make money.</a:t>
            </a:r>
          </a:p>
          <a:p>
            <a:r>
              <a:t>The broader research uses random controls; this demo uses flat, no-edge fixtures.</a:t>
            </a:r>
          </a:p>
          <a:p/>
          <a:p>
            <a:r>
              <a:t>Second, a planted signal: can the machinery recover a pattern we deliberately</a:t>
            </a:r>
          </a:p>
          <a:p>
            <a:r>
              <a:t>put into synthetic data?</a:t>
            </a:r>
          </a:p>
          <a:p/>
          <a:p>
            <a:r>
              <a:t>Third, a leakage trap: future information must be rejected.</a:t>
            </a:r>
          </a:p>
          <a:p/>
          <a:p>
            <a:r>
              <a:t>These checks validate mechanics, not market alpha. Costs and frozen</a:t>
            </a:r>
          </a:p>
          <a:p>
            <a:r>
              <a:t>specifications matter too.</a:t>
            </a:r>
          </a:p>
          <a:p/>
          <a:p>
            <a:r>
              <a:t>### Transition</a:t>
            </a:r>
          </a:p>
          <a:p>
            <a:r>
              <a:t>The useful result is often “no,” and our real research shows that.</a:t>
            </a:r>
          </a:p>
          <a:p/>
          <a:p>
            <a:r>
              <a:t>### Presenter cues — not spoken</a:t>
            </a:r>
          </a:p>
          <a:p>
            <a:r>
              <a:t>Do not claim the demo performs real-market out-of-sample or regime validation.</a:t>
            </a:r>
          </a:p>
          <a:p>
            <a:r>
              <a:t>It also checks deterministic reproduction.</a:t>
            </a:r>
          </a:p>
          <a:p/>
          <a:p/>
          <a:p/>
          <a:p>
            <a:r>
              <a:t>EDITABLE SLIDE SPECIFICATION / SOURCES</a:t>
            </a:r>
          </a:p>
          <a:p/>
          <a:p>
            <a:r>
              <a:t>### On-slide text</a:t>
            </a:r>
          </a:p>
          <a:p>
            <a:r>
              <a:t>```text</a:t>
            </a:r>
          </a:p>
          <a:p>
            <a:r>
              <a:t>NULL CONTROL</a:t>
            </a:r>
          </a:p>
          <a:p>
            <a:r>
              <a:t>No edge?</a:t>
            </a:r>
          </a:p>
          <a:p>
            <a:r>
              <a:t>No alpha.</a:t>
            </a:r>
          </a:p>
          <a:p>
            <a:r>
              <a:t>PLANTED SIGNAL</a:t>
            </a:r>
          </a:p>
          <a:p>
            <a:r>
              <a:t>Known edge?</a:t>
            </a:r>
          </a:p>
          <a:p>
            <a:r>
              <a:t>Recover it.</a:t>
            </a:r>
          </a:p>
          <a:p>
            <a:r>
              <a:t>LEAKAGE TRAP</a:t>
            </a:r>
          </a:p>
          <a:p>
            <a:r>
              <a:t>Future data?</a:t>
            </a:r>
          </a:p>
          <a:p>
            <a:r>
              <a:t>Reject it.</a:t>
            </a:r>
          </a:p>
          <a:p>
            <a:r>
              <a:t>Costs</a:t>
            </a:r>
          </a:p>
          <a:p>
            <a:r>
              <a:t>Frozen specifications</a:t>
            </a:r>
          </a:p>
          <a:p>
            <a:r>
              <a:t>Regime tests</a:t>
            </a:r>
          </a:p>
          <a:p>
            <a:r>
              <a:t>Data provenance</a:t>
            </a:r>
          </a:p>
          <a:p>
            <a:r>
              <a:t>Reject a failing rule. Don't optimize a rescue.</a:t>
            </a:r>
          </a:p>
          <a:p>
            <a:r>
              <a:t>Research requirements, not a claim that the demo validates market alpha.</a:t>
            </a:r>
          </a:p>
          <a:p>
            <a:r>
              <a:t>```</a:t>
            </a:r>
          </a:p>
          <a:p>
            <a:r>
              <a:t>### Visual layout</a:t>
            </a:r>
          </a:p>
          <a:p>
            <a:r>
              <a:t>Three equal cards with 0, +, and t+1 symbols. Secondary scientific controls</a:t>
            </a:r>
          </a:p>
          <a:p>
            <a:r>
              <a:t>along the bottom. No unsupported production-success badge.</a:t>
            </a:r>
          </a:p>
          <a:p>
            <a:r>
              <a:t>### Data source</a:t>
            </a:r>
          </a:p>
          <a:p>
            <a:r>
              <a:t>[Demo tests](../tests/test_demo.py) and</a:t>
            </a:r>
          </a:p>
          <a:p>
            <a:r>
              <a:t>[research scientific controls](../tests/test_scientific_controls.py).</a:t>
            </a:r>
          </a:p>
          <a:p>
            <a:r>
              <a:t>### Speaker-note summary</a:t>
            </a:r>
          </a:p>
          <a:p>
            <a:r>
              <a:t>Broader research uses random nulls; the demo uses flat/no-edge fixtures.</a:t>
            </a:r>
          </a:p>
          <a:p>
            <a:r>
              <a:t>Recovering a planted synthetic signal verifies mechanics, not profitability.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**Timing:** 40 seconds · 2:05–2:45</a:t>
            </a:r>
          </a:p>
          <a:p/>
          <a:p>
            <a:r>
              <a:t>### Goal</a:t>
            </a:r>
          </a:p>
          <a:p>
            <a:r>
              <a:t>Distinguish adverse research findings from data-gated, unrun experiments.</a:t>
            </a:r>
          </a:p>
          <a:p/>
          <a:p>
            <a:r>
              <a:t>### Script</a:t>
            </a:r>
          </a:p>
          <a:p>
            <a:r>
              <a:t>These are real research statuses, not demo scores.</a:t>
            </a:r>
          </a:p>
          <a:p/>
          <a:p>
            <a:r>
              <a:t>ETF Trend remains research more, close to rejection. Stock momentum is blocked</a:t>
            </a:r>
          </a:p>
          <a:p>
            <a:r>
              <a:t>by historical-universe and delisting evidence. Adding quality also needs</a:t>
            </a:r>
          </a:p>
          <a:p>
            <a:r>
              <a:t>point-in-time fundamentals.</a:t>
            </a:r>
          </a:p>
          <a:p/>
          <a:p>
            <a:r>
              <a:t>Earnings drift is deferred. A price-based route may be feasible, but historical</a:t>
            </a:r>
          </a:p>
          <a:p>
            <a:r>
              <a:t>consensus and revision vintages remain blocked. We haven't tested PEAD.</a:t>
            </a:r>
          </a:p>
          <a:p/>
          <a:p>
            <a:r>
              <a:t>Sector-relative momentum has a frozen protocol, but data acquisition stopped</a:t>
            </a:r>
          </a:p>
          <a:p>
            <a:r>
              <a:t>at a network and DNS gate. No performance experiment ran.</a:t>
            </a:r>
          </a:p>
          <a:p/>
          <a:p>
            <a:r>
              <a:t>Missing evidence is not an economic rejection.</a:t>
            </a:r>
          </a:p>
          <a:p/>
          <a:p>
            <a:r>
              <a:t>### Transition</a:t>
            </a:r>
          </a:p>
          <a:p>
            <a:r>
              <a:t>Trend did run, and it's the clearest example of why this discipline matters.</a:t>
            </a:r>
          </a:p>
          <a:p/>
          <a:p>
            <a:r>
              <a:t>### Presenter cues — not spoken</a:t>
            </a:r>
          </a:p>
          <a:p>
            <a:r>
              <a:t>The lab preserves negative evidence. None of these candidates is promoted to</a:t>
            </a:r>
          </a:p>
          <a:p>
            <a:r>
              <a:t>paper, shadow, or live trading. Sector-relative momentum completed **0/18**</a:t>
            </a:r>
          </a:p>
          <a:p>
            <a:r>
              <a:t>scenarios; unavailable metrics are not zero returns.</a:t>
            </a:r>
          </a:p>
          <a:p>
            <a:r>
              <a:t>Source: [canonical research status](../docs/research-status.md).</a:t>
            </a:r>
          </a:p>
          <a:p/>
          <a:p/>
          <a:p/>
          <a:p>
            <a:r>
              <a:t>EDITABLE SLIDE SPECIFICATION / SOURCES</a:t>
            </a:r>
          </a:p>
          <a:p/>
          <a:p>
            <a:r>
              <a:t>### On-slide text</a:t>
            </a:r>
          </a:p>
          <a:p>
            <a:r>
              <a:t>```text</a:t>
            </a:r>
          </a:p>
          <a:p>
            <a:r>
              <a:t>REAL RESEARCH</a:t>
            </a:r>
          </a:p>
          <a:p>
            <a:r>
              <a:t>ETF Trend</a:t>
            </a:r>
          </a:p>
          <a:p>
            <a:r>
              <a:t>RESEARCH MORE</a:t>
            </a:r>
          </a:p>
          <a:p>
            <a:r>
              <a:t>Weak vs static de-risking</a:t>
            </a:r>
          </a:p>
          <a:p>
            <a:r>
              <a:t>Stock Momentum</a:t>
            </a:r>
          </a:p>
          <a:p>
            <a:r>
              <a:t>DATA BLOCKED</a:t>
            </a:r>
          </a:p>
          <a:p>
            <a:r>
              <a:t>Universe / identity / delistings</a:t>
            </a:r>
          </a:p>
          <a:p>
            <a:r>
              <a:t>Momentum + Quality</a:t>
            </a:r>
          </a:p>
          <a:p>
            <a:r>
              <a:t>DATA BLOCKED</a:t>
            </a:r>
          </a:p>
          <a:p>
            <a:r>
              <a:t>Stock history + PIT fundamentals</a:t>
            </a:r>
          </a:p>
          <a:p>
            <a:r>
              <a:t>PEAD / Earnings</a:t>
            </a:r>
          </a:p>
          <a:p>
            <a:r>
              <a:t>DEFER</a:t>
            </a:r>
          </a:p>
          <a:p>
            <a:r>
              <a:t>Consensus vintages unavailable</a:t>
            </a:r>
          </a:p>
          <a:p>
            <a:r>
              <a:t>ETF Relative Momentum</a:t>
            </a:r>
          </a:p>
          <a:p>
            <a:r>
              <a:t>NOT YET TESTED</a:t>
            </a:r>
          </a:p>
          <a:p>
            <a:r>
              <a:t>Frozen protocol; acquisition blocked</a:t>
            </a:r>
          </a:p>
          <a:p>
            <a:r>
              <a:t>THIS IS THE POINT.</a:t>
            </a:r>
          </a:p>
          <a:p>
            <a:r>
              <a:t>The lab preserves negative evidence.</a:t>
            </a:r>
          </a:p>
          <a:p>
            <a:r>
              <a:t>Trend: near rejection. Missing data is not an economic rejection.</a:t>
            </a:r>
          </a:p>
          <a:p>
            <a:r>
              <a:t>```</a:t>
            </a:r>
          </a:p>
          <a:p>
            <a:r>
              <a:t>### Visual layout</a:t>
            </a:r>
          </a:p>
          <a:p>
            <a:r>
              <a:t>Five clear horizontal cards. Amber adverse/deferred statuses and blue data</a:t>
            </a:r>
          </a:p>
          <a:p>
            <a:r>
              <a:t>gates, never a green profitable-strategy claim. Large concluding phrase.</a:t>
            </a:r>
          </a:p>
          <a:p>
            <a:r>
              <a:t>### Data source</a:t>
            </a:r>
          </a:p>
          <a:p>
            <a:r>
              <a:t>[Canonical research status and original reports](../docs/research-status.md).</a:t>
            </a:r>
          </a:p>
          <a:p>
            <a:r>
              <a:t>### Speaker-note summary</a:t>
            </a:r>
          </a:p>
          <a:p>
            <a:r>
              <a:t>Trend is not promoted; stocks/quality lack qualified data; PEAD is untested;</a:t>
            </a:r>
          </a:p>
          <a:p>
            <a:r>
              <a:t>relative momentum has zero completed performance scenarios.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**Timing:** 45 seconds · 2:45–3:30</a:t>
            </a:r>
          </a:p>
          <a:p/>
          <a:p>
            <a:r>
              <a:t>### Goal</a:t>
            </a:r>
          </a:p>
          <a:p>
            <a:r>
              <a:t>Show the real return/drawdown trade-off without rescuing the failed rules.</a:t>
            </a:r>
          </a:p>
          <a:p/>
          <a:p>
            <a:r>
              <a:t>### Script</a:t>
            </a:r>
          </a:p>
          <a:p>
            <a:r>
              <a:t>The earlier exploratory work made trend look promising. Then we froze the rules</a:t>
            </a:r>
          </a:p>
          <a:p>
            <a:r>
              <a:t>and compared them with simply holding less equity.</a:t>
            </a:r>
          </a:p>
          <a:p/>
          <a:p>
            <a:r>
              <a:t>At twenty basis points one-way, Absolute Twelve returned about eleven-point-three</a:t>
            </a:r>
          </a:p>
          <a:p>
            <a:r>
              <a:t>percent a year, just like static seventy-thirty. But it still suffered the full</a:t>
            </a:r>
          </a:p>
          <a:p>
            <a:r>
              <a:t>thirty-three-point-seven percent drawdown. Static seventy-thirty lost about</a:t>
            </a:r>
          </a:p>
          <a:p>
            <a:r>
              <a:t>twenty-four percent instead.</a:t>
            </a:r>
          </a:p>
          <a:p/>
          <a:p>
            <a:r>
              <a:t>SMA Ten gave up more return. Four of four Absolute Twelve defensive cycles,</a:t>
            </a:r>
          </a:p>
          <a:p>
            <a:r>
              <a:t>and nine of eleven SMA Ten cycles, lost relative wealth versus staying invested.</a:t>
            </a:r>
          </a:p>
          <a:p/>
          <a:p>
            <a:r>
              <a:t>We didn't retune the failed rule. These are exploratory NAV results, not</a:t>
            </a:r>
          </a:p>
          <a:p>
            <a:r>
              <a:t>production-ready execution.</a:t>
            </a:r>
          </a:p>
          <a:p/>
          <a:p>
            <a:r>
              <a:t>### Transition</a:t>
            </a:r>
          </a:p>
          <a:p>
            <a:r>
              <a:t>Now I'll show the workflow with synthetic data, not replay those research results.</a:t>
            </a:r>
          </a:p>
          <a:p/>
          <a:p>
            <a:r>
              <a:t>### Presenter cues — not spoken</a:t>
            </a:r>
          </a:p>
          <a:p>
            <a:r>
              <a:t>Point at the 70/30 versus Absolute12 rows; do not read every number aloud.</a:t>
            </a:r>
          </a:p>
          <a:p>
            <a:r>
              <a:t>The source window is **2016-01-04–2026-07-31**, with **BIL defense** and</a:t>
            </a:r>
          </a:p>
          <a:p>
            <a:r>
              <a:t>**20 bps one-way costs**. Static splits mean SPY/BIL, not stock/aggregate bonds.</a:t>
            </a:r>
          </a:p>
          <a:p/>
          <a:p>
            <a:r>
              <a:t>| Portfolio | Net CAGR | Maximum drawdown |</a:t>
            </a:r>
          </a:p>
          <a:p>
            <a:r>
              <a:t>| --- | ---: | ---: |</a:t>
            </a:r>
          </a:p>
          <a:p>
            <a:r>
              <a:t>| SPY | 15.03% | -33.68% |</a:t>
            </a:r>
          </a:p>
          <a:p>
            <a:r>
              <a:t>| Static 80/20 | 12.53% | -27.33% |</a:t>
            </a:r>
          </a:p>
          <a:p>
            <a:r>
              <a:t>| Static 70/30 | 11.26% | -24.08% |</a:t>
            </a:r>
          </a:p>
          <a:p>
            <a:r>
              <a:t>| Absolute12 | 11.26% | -33.68% |</a:t>
            </a:r>
          </a:p>
          <a:p>
            <a:r>
              <a:t>| SMA10 | 7.85% | -28.19% |</a:t>
            </a:r>
          </a:p>
          <a:p/>
          <a:p>
            <a:r>
              <a:t>The whipsaw counts are **completed defensive cycles losing relative wealth</a:t>
            </a:r>
          </a:p>
          <a:p>
            <a:r>
              <a:t>against SPY, including switching costs**, not necessarily negative absolute</a:t>
            </a:r>
          </a:p>
          <a:p>
            <a:r>
              <a:t>returns. SMA10 protected part of the COVID decline but missed a large rebound.</a:t>
            </a:r>
          </a:p>
          <a:p>
            <a:r>
              <a:t>The classification remains **RESEARCH MORE / near rejection**; verify executable</a:t>
            </a:r>
          </a:p>
          <a:p>
            <a:r>
              <a:t>closes under the same frozen rules, without parameter rescue or promotion.</a:t>
            </a:r>
          </a:p>
          <a:p>
            <a:r>
              <a:t>Sources: [metrics](../research/etf_trend/results/metrics.csv),</a:t>
            </a:r>
          </a:p>
          <a:p>
            <a:r>
              <a:t>[whipsaws](../research/etf_trend/results/whipsaw_summary.csv),</a:t>
            </a:r>
          </a:p>
          <a:p>
            <a:r>
              <a:t>[original report](../docs/etf-trend-validation.md).</a:t>
            </a:r>
          </a:p>
          <a:p/>
          <a:p/>
          <a:p/>
          <a:p>
            <a:r>
              <a:t>EDITABLE SLIDE SPECIFICATION / SOURCES</a:t>
            </a:r>
          </a:p>
          <a:p/>
          <a:p>
            <a:r>
              <a:t>### On-slide text</a:t>
            </a:r>
          </a:p>
          <a:p>
            <a:r>
              <a:t>```text</a:t>
            </a:r>
          </a:p>
          <a:p>
            <a:r>
              <a:t>REAL RESEARCH · EXPLORATORY / NAV-BASED</a:t>
            </a:r>
          </a:p>
          <a:p>
            <a:r>
              <a:t>2016-01-04 → 2026-07-31 · SPY / BIL · 20 bps one-way costs</a:t>
            </a:r>
          </a:p>
          <a:p>
            <a:r>
              <a:t>CAGR ↑</a:t>
            </a:r>
          </a:p>
          <a:p>
            <a:r>
              <a:t>MAX DRAWDOWN ↓ magnitude</a:t>
            </a:r>
          </a:p>
          <a:p>
            <a:r>
              <a:t>Absolute12: no worst-drawdown benefit</a:t>
            </a:r>
          </a:p>
          <a:p>
            <a:r>
              <a:t>SMA10: COVID protection, then missed rebound</a:t>
            </a:r>
          </a:p>
          <a:p>
            <a:r>
              <a:t>Losing defensive cycles: Absolute12 4/4 · SMA10 9/11</a:t>
            </a:r>
          </a:p>
          <a:p>
            <a:r>
              <a:t>We didn't retune the failed rule.</a:t>
            </a:r>
          </a:p>
          <a:p>
            <a:r>
              <a:t>NOT PRODUCTION-READY · NAV proxy, not executable closes.</a:t>
            </a:r>
          </a:p>
          <a:p>
            <a:r>
              <a:t>```</a:t>
            </a:r>
          </a:p>
          <a:p>
            <a:r>
              <a:t>### Visual layout</a:t>
            </a:r>
          </a:p>
          <a:p>
            <a:r>
              <a:t>Two aligned horizontal bar panels with zero origins, comparing return against</a:t>
            </a:r>
          </a:p>
          <a:p>
            <a:r>
              <a:t>drawdown magnitude. Keep drawdown labels signed negative. No fabricated series.</a:t>
            </a:r>
          </a:p>
          <a:p>
            <a:r>
              <a:t>Select `defense=BIL`, `one_way_cost_bps=20` from the CSV:</a:t>
            </a:r>
          </a:p>
          <a:p/>
          <a:p>
            <a:r>
              <a:t>| Model | Net CAGR | Max drawdown |</a:t>
            </a:r>
          </a:p>
          <a:p>
            <a:r>
              <a:t>| --- | ---: | ---: |</a:t>
            </a:r>
          </a:p>
          <a:p>
            <a:r>
              <a:t>| SPY | 15.03% | -33.68% |</a:t>
            </a:r>
          </a:p>
          <a:p>
            <a:r>
              <a:t>| Static 80/20 | 12.53% | -27.33% |</a:t>
            </a:r>
          </a:p>
          <a:p>
            <a:r>
              <a:t>| Static 70/30 | 11.26% | -24.08% |</a:t>
            </a:r>
          </a:p>
          <a:p>
            <a:r>
              <a:t>| Absolute12 | 11.26% | -33.68% |</a:t>
            </a:r>
          </a:p>
          <a:p>
            <a:r>
              <a:t>| SMA10 | 7.85% | -28.19% |</a:t>
            </a:r>
          </a:p>
          <a:p/>
          <a:p>
            <a:r>
              <a:t>Static splits mean SPY/BIL, not stock/aggregate bonds. The 4/4 and 9/11</a:t>
            </a:r>
          </a:p>
          <a:p>
            <a:r>
              <a:t>counts refer to completed defensive cycles losing relative wealth versus SPY,</a:t>
            </a:r>
          </a:p>
          <a:p>
            <a:r>
              <a:t>including switching costs, not calendar periods or necessarily absolute losses.</a:t>
            </a:r>
          </a:p>
          <a:p>
            <a:r>
              <a:t>### Data source</a:t>
            </a:r>
          </a:p>
          <a:p>
            <a:r>
              <a:t>[Committed metrics](../research/etf_trend/results/metrics.csv),</a:t>
            </a:r>
          </a:p>
          <a:p>
            <a:r>
              <a:t>[whipsaws](../research/etf_trend/results/whipsaw_summary.csv),</a:t>
            </a:r>
          </a:p>
          <a:p>
            <a:r>
              <a:t>[validated report](../docs/etf-trend-validation.md).</a:t>
            </a:r>
          </a:p>
          <a:p>
            <a:r>
              <a:t>### Speaker-note summary</a:t>
            </a:r>
          </a:p>
          <a:p>
            <a:r>
              <a:t>Similar rounded CAGR masks very different drawdowns. Verify executable closes</a:t>
            </a:r>
          </a:p>
          <a:p>
            <a:r>
              <a:t>under frozen rules; do not retune or promote the weak implementations.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**Timing:** 90 seconds · 3:30–5:00 · roughly 45 seconds speaking + 45 seconds navigation</a:t>
            </a:r>
          </a:p>
          <a:p/>
          <a:p>
            <a:r>
              <a:t>### Goal</a:t>
            </a:r>
          </a:p>
          <a:p>
            <a:r>
              <a:t>Show the complete deterministic research-to-dry-run path, with visible limits.</a:t>
            </a:r>
          </a:p>
          <a:p/>
          <a:p>
            <a:r>
              <a:t>### Script</a:t>
            </a:r>
          </a:p>
          <a:p>
            <a:r>
              <a:t>This is a synthetic dry run, not real research.</a:t>
            </a:r>
          </a:p>
          <a:p/>
          <a:p>
            <a:r>
              <a:t>The agent starts with a research hypothesis, not an order.</a:t>
            </a:r>
          </a:p>
          <a:p/>
          <a:p>
            <a:r>
              <a:t>The hypothesis is converted into a deterministic experiment.</a:t>
            </a:r>
          </a:p>
          <a:p/>
          <a:p>
            <a:r>
              <a:t>The backtest uses fictional prices, delayed decisions, and costs.</a:t>
            </a:r>
          </a:p>
          <a:p/>
          <a:p>
            <a:r>
              <a:t>This is the important part — the model doesn't get to grade its own homework.</a:t>
            </a:r>
          </a:p>
          <a:p>
            <a:r>
              <a:t>These controls verify mechanics, not market alpha.</a:t>
            </a:r>
          </a:p>
          <a:p/>
          <a:p>
            <a:r>
              <a:t>Bad strategies remain visible as rejected evidence. The portfolio keeps most</a:t>
            </a:r>
          </a:p>
          <a:p>
            <a:r>
              <a:t>of its capital in cash.</a:t>
            </a:r>
          </a:p>
          <a:p/>
          <a:p>
            <a:r>
              <a:t>Even a strategy that survives research still cannot trade directly.</a:t>
            </a:r>
          </a:p>
          <a:p/>
          <a:p>
            <a:r>
              <a:t>Execution deliberately stops here today. Robinhood is disconnected.</a:t>
            </a:r>
          </a:p>
          <a:p>
            <a:r>
              <a:t>The receipt ties inputs, configuration, and results together.</a:t>
            </a:r>
          </a:p>
          <a:p/>
          <a:p>
            <a:r>
              <a:t>### Transition</a:t>
            </a:r>
          </a:p>
          <a:p>
            <a:r>
              <a:t>Now let's look at that last safety boundary.</a:t>
            </a:r>
          </a:p>
          <a:p/>
          <a:p>
            <a:r>
              <a:t>### Presenter cues — not spoken</a:t>
            </a:r>
          </a:p>
          <a:p>
            <a:r>
              <a:t>Follow the [90-second walkthrough](demo-runbook.md#during-the-presentation--slide-7).</a:t>
            </a:r>
          </a:p>
          <a:p>
            <a:r>
              <a:t>Switch to the terminal and run `uv run aql demo`. With dependencies already</a:t>
            </a:r>
          </a:p>
          <a:p>
            <a:r>
              <a:t>prepared, the network-independent variant is `uv run --offline --no-sync aql demo`.</a:t>
            </a:r>
          </a:p>
          <a:p>
            <a:r>
              <a:t>Scroll through the completed output, pausing your narration at each stage.</a:t>
            </a:r>
          </a:p>
          <a:p>
            <a:r>
              <a:t>The CLI has no interactive pauses.</a:t>
            </a:r>
          </a:p>
          <a:p/>
          <a:p>
            <a:r>
              <a:t>Keep the banner visible: **MODE: DEMO · DATA: SYNTHETIC FIXTURE ·</a:t>
            </a:r>
          </a:p>
          <a:p>
            <a:r>
              <a:t>LIVE TRADING: DISABLED · EXECUTION: DRY RUN**.</a:t>
            </a:r>
          </a:p>
          <a:p>
            <a:r>
              <a:t>The fictional symbols are `DEMO_UP`, `DEMO_WEAK`, and `DEMO_NULL`.</a:t>
            </a:r>
          </a:p>
          <a:p>
            <a:r>
              <a:t>The demo uses **10 bps** and compressed three-period, skip-latest momentum;</a:t>
            </a:r>
          </a:p>
          <a:p>
            <a:r>
              <a:t>it is neither slide 6's real 20 bps study nor the unrun sector 12-1 experiment.</a:t>
            </a:r>
          </a:p>
          <a:p/>
          <a:p>
            <a:r>
              <a:t>If the CLI fails or is not ready within five seconds, disclose the switch to</a:t>
            </a:r>
          </a:p>
          <a:p>
            <a:r>
              <a:t>[prerecorded output](demo-output.txt). Do not troubleshoot during the talk.</a:t>
            </a:r>
          </a:p>
          <a:p/>
          <a:p/>
          <a:p/>
          <a:p>
            <a:r>
              <a:t>EDITABLE SLIDE SPECIFICATION / SOURCES</a:t>
            </a:r>
          </a:p>
          <a:p/>
          <a:p>
            <a:r>
              <a:t>### On-slide text</a:t>
            </a:r>
          </a:p>
          <a:p>
            <a:r>
              <a:t>```text</a:t>
            </a:r>
          </a:p>
          <a:p>
            <a:r>
              <a:t>uv run aql demo</a:t>
            </a:r>
          </a:p>
          <a:p>
            <a:r>
              <a:t>Agent → Experiment → Backtest</a:t>
            </a:r>
          </a:p>
          <a:p>
            <a:r>
              <a:t>Falsification → Tournament → Portfolio</a:t>
            </a:r>
          </a:p>
          <a:p>
            <a:r>
              <a:t>RiskGate → DRY RUN</a:t>
            </a:r>
          </a:p>
          <a:p>
            <a:r>
              <a:t>DATA: DEMO FIXTURE</a:t>
            </a:r>
          </a:p>
          <a:p>
            <a:r>
              <a:t>LIVE TRADING: OFF</a:t>
            </a:r>
          </a:p>
          <a:p>
            <a:r>
              <a:t>EXECUTION: DRY RUN</a:t>
            </a:r>
          </a:p>
          <a:p>
            <a:r>
              <a:t>INTERNET: NOT REQUIRED</a:t>
            </a:r>
          </a:p>
          <a:p>
            <a:r>
              <a:t>Scripted agent. Synthetic results. No LLM or broker call.</a:t>
            </a:r>
          </a:p>
          <a:p>
            <a:r>
              <a:t>Prepared offline: uv run --offline --no-sync aql demo</a:t>
            </a:r>
          </a:p>
          <a:p>
            <a:r>
              <a:t>```</a:t>
            </a:r>
          </a:p>
          <a:p>
            <a:r>
              <a:t>### Visual layout</a:t>
            </a:r>
          </a:p>
          <a:p>
            <a:r>
              <a:t>Large command above three workflow lines. Four two-line safety badges.</a:t>
            </a:r>
          </a:p>
          <a:p>
            <a:r>
              <a:t>No dense screenshot; the presenter switches to the real terminal here.</a:t>
            </a:r>
          </a:p>
          <a:p>
            <a:r>
              <a:t>### Data source</a:t>
            </a:r>
          </a:p>
          <a:p>
            <a:r>
              <a:t>[Demo implementation](../src/agentic_quant_lab/demo.py),</a:t>
            </a:r>
          </a:p>
          <a:p>
            <a:r>
              <a:t>[synthetic fixture](../src/agentic_quant_lab/resources/demo_fixture.json),</a:t>
            </a:r>
          </a:p>
          <a:p>
            <a:r>
              <a:t>and [committed successful output](demo-output.txt).</a:t>
            </a:r>
          </a:p>
          <a:p>
            <a:r>
              <a:t>### Speaker-note summary</a:t>
            </a:r>
          </a:p>
          <a:p>
            <a:r>
              <a:t>Run the command and scroll through completed stages. No internet after setup.</a:t>
            </a:r>
          </a:p>
          <a:p>
            <a:r>
              <a:t>Demonstrate machinery, not a discovered investment edge.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**Timing:** 30 seconds · 5:00–5:30</a:t>
            </a:r>
          </a:p>
          <a:p/>
          <a:p>
            <a:r>
              <a:t>### Goal</a:t>
            </a:r>
          </a:p>
          <a:p>
            <a:r>
              <a:t>Show that a research proposal cannot authorize its own execution.</a:t>
            </a:r>
          </a:p>
          <a:p/>
          <a:p>
            <a:r>
              <a:t>### Script</a:t>
            </a:r>
          </a:p>
          <a:p>
            <a:r>
              <a:t>The proposal is ten fictional shares, about nineteen hundred and twenty dollars.</a:t>
            </a:r>
          </a:p>
          <a:p/>
          <a:p>
            <a:r>
              <a:t>The RiskGate checks the instrument, positive long-only quantity, leverage,</a:t>
            </a:r>
          </a:p>
          <a:p>
            <a:r>
              <a:t>order size, concentration, and freshness. Those checks use supplied demo state,</a:t>
            </a:r>
          </a:p>
          <a:p>
            <a:r>
              <a:t>not a connected account.</a:t>
            </a:r>
          </a:p>
          <a:p/>
          <a:p>
            <a:r>
              <a:t>The execution adapter checks the gate again. Live execution stays disabled.</a:t>
            </a:r>
          </a:p>
          <a:p>
            <a:r>
              <a:t>Passing this demonstration gate authorizes only a dry run, never a broker order.</a:t>
            </a:r>
          </a:p>
          <a:p/>
          <a:p>
            <a:r>
              <a:t>### Transition</a:t>
            </a:r>
          </a:p>
          <a:p>
            <a:r>
              <a:t>So where does AI actually add value?</a:t>
            </a:r>
          </a:p>
          <a:p/>
          <a:p>
            <a:r>
              <a:t>### Presenter cues — not spoken</a:t>
            </a:r>
          </a:p>
          <a:p>
            <a:r>
              <a:t>Actual fixture intent: **BUY 10 DEMO_UP**, estimated **$1,919.92**.</a:t>
            </a:r>
          </a:p>
          <a:p>
            <a:r>
              <a:t>Supplied snapshot: **$10,000 equity and cash**, no positions.</a:t>
            </a:r>
          </a:p>
          <a:p>
            <a:r>
              <a:t>Limits: **$2,000 order**, **$2,500 position**, **25% concentration**.</a:t>
            </a:r>
          </a:p>
          <a:p>
            <a:r>
              <a:t>The 20% allocation is rounded to whole shares.</a:t>
            </a:r>
          </a:p>
          <a:p/>
          <a:p>
            <a:r>
              <a:t>The scenario clock is fixed at **2025-01-01T00:00:00+00:00**, not wall time.</a:t>
            </a:r>
          </a:p>
          <a:p>
            <a:r>
              <a:t>This is one intent against supplied state, not broker reconciliation,</a:t>
            </a:r>
          </a:p>
          <a:p>
            <a:r>
              <a:t>multi-order rebalancing, or continuous live-account enforcement.</a:t>
            </a:r>
          </a:p>
          <a:p>
            <a:r>
              <a:t>Hashes bind contents; they do not establish truthful data or profitable alpha.</a:t>
            </a:r>
          </a:p>
          <a:p/>
          <a:p/>
          <a:p/>
          <a:p>
            <a:r>
              <a:t>EDITABLE SLIDE SPECIFICATION / SOURCES</a:t>
            </a:r>
          </a:p>
          <a:p/>
          <a:p>
            <a:r>
              <a:t>### On-slide text</a:t>
            </a:r>
          </a:p>
          <a:p>
            <a:r>
              <a:t>```text</a:t>
            </a:r>
          </a:p>
          <a:p>
            <a:r>
              <a:t>ORDER INTENT</a:t>
            </a:r>
          </a:p>
          <a:p>
            <a:r>
              <a:t>BUY 10</a:t>
            </a:r>
          </a:p>
          <a:p>
            <a:r>
              <a:t>DEMO_UP</a:t>
            </a:r>
          </a:p>
          <a:p>
            <a:r>
              <a:t>≈ $1,919.92</a:t>
            </a:r>
          </a:p>
          <a:p>
            <a:r>
              <a:t>FIXTURE ONLY</a:t>
            </a:r>
          </a:p>
          <a:p>
            <a:r>
              <a:t>RiskGate</a:t>
            </a:r>
          </a:p>
          <a:p>
            <a:r>
              <a:t>✓ Approved instrument</a:t>
            </a:r>
          </a:p>
          <a:p>
            <a:r>
              <a:t>✓ Long-only · positive quantity</a:t>
            </a:r>
          </a:p>
          <a:p>
            <a:r>
              <a:t>✓ No leverage</a:t>
            </a:r>
          </a:p>
          <a:p>
            <a:r>
              <a:t>✓ Order / position limits</a:t>
            </a:r>
          </a:p>
          <a:p>
            <a:r>
              <a:t>✓ Concentration limit</a:t>
            </a:r>
          </a:p>
          <a:p>
            <a:r>
              <a:t>✓ Decision freshness</a:t>
            </a:r>
          </a:p>
          <a:p>
            <a:r>
              <a:t>✓ live_execution_enabled = false</a:t>
            </a:r>
          </a:p>
          <a:p>
            <a:r>
              <a:t>EXECUTION</a:t>
            </a:r>
          </a:p>
          <a:p>
            <a:r>
              <a:t>DRY RUN ADAPTER</a:t>
            </a:r>
          </a:p>
          <a:p>
            <a:r>
              <a:t>Robinhood</a:t>
            </a:r>
          </a:p>
          <a:p>
            <a:r>
              <a:t>DISCONNECTED</a:t>
            </a:r>
          </a:p>
          <a:p>
            <a:r>
              <a:t>Agents propose. RiskGate authorizes.</a:t>
            </a:r>
          </a:p>
          <a:p>
            <a:r>
              <a:t>One BUY / supplied demo state. No broker reconciliation.</a:t>
            </a:r>
          </a:p>
          <a:p>
            <a:r>
              <a:t>Future design: credentials stay outside research agents.</a:t>
            </a:r>
          </a:p>
          <a:p>
            <a:r>
              <a:t>```</a:t>
            </a:r>
          </a:p>
          <a:p>
            <a:r>
              <a:t>### Visual layout</a:t>
            </a:r>
          </a:p>
          <a:p>
            <a:r>
              <a:t>Order intent enters a seven-check gate, then the DryRunExecutionAdapter.</a:t>
            </a:r>
          </a:p>
          <a:p>
            <a:r>
              <a:t>Robinhood is detached and muted. Checks are legible, not decorative tiny text.</a:t>
            </a:r>
          </a:p>
          <a:p>
            <a:r>
              <a:t>### Data source</a:t>
            </a:r>
          </a:p>
          <a:p>
            <a:r>
              <a:t>[RiskGate](../src/agentic_quant_lab/risk.py),</a:t>
            </a:r>
          </a:p>
          <a:p>
            <a:r>
              <a:t>[execution adapters](../src/agentic_quant_lab/execution.py),</a:t>
            </a:r>
          </a:p>
          <a:p>
            <a:r>
              <a:t>[matching demo receipt](assets/offline-demo/receipt.json).</a:t>
            </a:r>
          </a:p>
          <a:p>
            <a:r>
              <a:t>### Speaker-note summary</a:t>
            </a:r>
          </a:p>
          <a:p>
            <a:r>
              <a:t>Actual fixture order, $2,000 order cap, $2,500 position cap, 25% concentration.</a:t>
            </a:r>
          </a:p>
          <a:p>
            <a:r>
              <a:t>Fixed scenario time and supplied state; the adapter checks the gate again.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**Timing:** 30 seconds · 5:30–6:00</a:t>
            </a:r>
          </a:p>
          <a:p/>
          <a:p>
            <a:r>
              <a:t>### Goal</a:t>
            </a:r>
          </a:p>
          <a:p>
            <a:r>
              <a:t>Position AI as a research collaborator, not a substitute for calculations.</a:t>
            </a:r>
          </a:p>
          <a:p/>
          <a:p>
            <a:r>
              <a:t>### Script</a:t>
            </a:r>
          </a:p>
          <a:p>
            <a:r>
              <a:t>AI can help read research, form hypotheses, interpret earnings, and investigate</a:t>
            </a:r>
          </a:p>
          <a:p>
            <a:r>
              <a:t>why a strategy stops working. Its useful job is proposing the next test and</a:t>
            </a:r>
          </a:p>
          <a:p>
            <a:r>
              <a:t>finding evidence that contradicts the story.</a:t>
            </a:r>
          </a:p>
          <a:p/>
          <a:p>
            <a:r>
              <a:t>Code should calculate returns, rank assets, allocate capital, and enforce limits.</a:t>
            </a:r>
          </a:p>
          <a:p>
            <a:r>
              <a:t>Use AI for reasoning. Use code for truth — meaning reproducible calculations,</a:t>
            </a:r>
          </a:p>
          <a:p>
            <a:r>
              <a:t>not certainty about markets.</a:t>
            </a:r>
          </a:p>
          <a:p/>
          <a:p>
            <a:r>
              <a:t>### Transition</a:t>
            </a:r>
          </a:p>
          <a:p>
            <a:r>
              <a:t>That division gives us a practical roadmap.</a:t>
            </a:r>
          </a:p>
          <a:p/>
          <a:p>
            <a:r>
              <a:t>### Presenter cues — not spoken</a:t>
            </a:r>
          </a:p>
          <a:p>
            <a:r>
              <a:t>The agent column describes target capabilities. Today's scripted stand-in did</a:t>
            </a:r>
          </a:p>
          <a:p>
            <a:r>
              <a:t>not autonomously conduct the separately committed research.</a:t>
            </a:r>
          </a:p>
          <a:p/>
          <a:p/>
          <a:p/>
          <a:p>
            <a:r>
              <a:t>EDITABLE SLIDE SPECIFICATION / SOURCES</a:t>
            </a:r>
          </a:p>
          <a:p/>
          <a:p>
            <a:r>
              <a:t>### On-slide text</a:t>
            </a:r>
          </a:p>
          <a:p>
            <a:r>
              <a:t>```text</a:t>
            </a:r>
          </a:p>
          <a:p>
            <a:r>
              <a:t>AGENT / TARGET CAPABILITIES</a:t>
            </a:r>
          </a:p>
          <a:p>
            <a:r>
              <a:t>Read research</a:t>
            </a:r>
          </a:p>
          <a:p>
            <a:r>
              <a:t>Generate hypotheses</a:t>
            </a:r>
          </a:p>
          <a:p>
            <a:r>
              <a:t>Find failure regimes</a:t>
            </a:r>
          </a:p>
          <a:p>
            <a:r>
              <a:t>Interpret earnings / guidance</a:t>
            </a:r>
          </a:p>
          <a:p>
            <a:r>
              <a:t>Propose experiments</a:t>
            </a:r>
          </a:p>
          <a:p>
            <a:r>
              <a:t>Investigate degradation</a:t>
            </a:r>
          </a:p>
          <a:p>
            <a:r>
              <a:t>DETERMINISTIC CODE</a:t>
            </a:r>
          </a:p>
          <a:p>
            <a:r>
              <a:t>Calculate returns</a:t>
            </a:r>
          </a:p>
          <a:p>
            <a:r>
              <a:t>Rank assets</a:t>
            </a:r>
          </a:p>
          <a:p>
            <a:r>
              <a:t>Run backtests + model costs</a:t>
            </a:r>
          </a:p>
          <a:p>
            <a:r>
              <a:t>Allocate capital</a:t>
            </a:r>
          </a:p>
          <a:p>
            <a:r>
              <a:t>Enforce risk limits</a:t>
            </a:r>
          </a:p>
          <a:p>
            <a:r>
              <a:t>Submit orders (future only)</a:t>
            </a:r>
          </a:p>
          <a:p>
            <a:r>
              <a:t>Use AI for reasoning.</a:t>
            </a:r>
          </a:p>
          <a:p>
            <a:r>
              <a:t>Use code for truth.</a:t>
            </a:r>
          </a:p>
          <a:p>
            <a:r>
              <a:t>“Truth” means reproducible calculations, not certainty about markets.</a:t>
            </a:r>
          </a:p>
          <a:p>
            <a:r>
              <a:t>```</a:t>
            </a:r>
          </a:p>
          <a:p>
            <a:r>
              <a:t>### Visual layout</a:t>
            </a:r>
          </a:p>
          <a:p>
            <a:r>
              <a:t>Violet agent column and mint code column, six lines each, large closing line.</a:t>
            </a:r>
          </a:p>
          <a:p>
            <a:r>
              <a:t>Target reasoning capabilities must not imply today's scripted agent is an LLM.</a:t>
            </a:r>
          </a:p>
          <a:p>
            <a:r>
              <a:t>### Data source</a:t>
            </a:r>
          </a:p>
          <a:p>
            <a:r>
              <a:t>[Current architecture and boundaries](../README.md); target capabilities, not</a:t>
            </a:r>
          </a:p>
          <a:p>
            <a:r>
              <a:t>claims that a live agent performed the research.</a:t>
            </a:r>
          </a:p>
          <a:p>
            <a:r>
              <a:t>### Speaker-note summary</a:t>
            </a:r>
          </a:p>
          <a:p>
            <a:r>
              <a:t>Use models for reasoning and contradictions; do not delegate math or authority.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**Timing:** 25 seconds · 6:00–6:25</a:t>
            </a:r>
          </a:p>
          <a:p/>
          <a:p>
            <a:r>
              <a:t>### Goal</a:t>
            </a:r>
          </a:p>
          <a:p>
            <a:r>
              <a:t>Make each future capability conditional on evidence and separate authorization.</a:t>
            </a:r>
          </a:p>
          <a:p/>
          <a:p>
            <a:r>
              <a:t>### Script</a:t>
            </a:r>
          </a:p>
          <a:p>
            <a:r>
              <a:t>Today we have research, falsification, and an offline demonstration.</a:t>
            </a:r>
          </a:p>
          <a:p/>
          <a:p>
            <a:r>
              <a:t>Next: qualify the missing data, then paper or shadow trading with its own</a:t>
            </a:r>
          </a:p>
          <a:p>
            <a:r>
              <a:t>acceptance gates. After that, evaluate agent-driven experiment generation.</a:t>
            </a:r>
          </a:p>
          <a:p/>
          <a:p>
            <a:r>
              <a:t>Risk-controlled Robinhood execution is the final step, not today's feature.</a:t>
            </a:r>
          </a:p>
          <a:p>
            <a:r>
              <a:t>Live trading is disabled. Nothing here changes Azure or the Phase Zero recorder.</a:t>
            </a:r>
          </a:p>
          <a:p/>
          <a:p>
            <a:r>
              <a:t>### Transition</a:t>
            </a:r>
          </a:p>
          <a:p>
            <a:r>
              <a:t>The destination is disciplined restraint.</a:t>
            </a:r>
          </a:p>
          <a:p/>
          <a:p>
            <a:r>
              <a:t>### Presenter cues — not spoken</a:t>
            </a:r>
          </a:p>
          <a:p>
            <a:r>
              <a:t>No live data acquisition, SEC acceptance, Azure deployment, scheduler change,</a:t>
            </a:r>
          </a:p>
          <a:p>
            <a:r>
              <a:t>or broker connection is part of this presentation.</a:t>
            </a:r>
          </a:p>
          <a:p/>
          <a:p/>
          <a:p/>
          <a:p>
            <a:r>
              <a:t>EDITABLE SLIDE SPECIFICATION / SOURCES</a:t>
            </a:r>
          </a:p>
          <a:p/>
          <a:p>
            <a:r>
              <a:t>### On-slide text</a:t>
            </a:r>
          </a:p>
          <a:p>
            <a:r>
              <a:t>```text</a:t>
            </a:r>
          </a:p>
          <a:p>
            <a:r>
              <a:t>NOW</a:t>
            </a:r>
          </a:p>
          <a:p>
            <a:r>
              <a:t>Research +</a:t>
            </a:r>
          </a:p>
          <a:p>
            <a:r>
              <a:t>falsification</a:t>
            </a:r>
          </a:p>
          <a:p>
            <a:r>
              <a:t>Offline demo</a:t>
            </a:r>
          </a:p>
          <a:p>
            <a:r>
              <a:t>NEXT</a:t>
            </a:r>
          </a:p>
          <a:p>
            <a:r>
              <a:t>Qualified data</a:t>
            </a:r>
          </a:p>
          <a:p>
            <a:r>
              <a:t>Paper / shadow</a:t>
            </a:r>
          </a:p>
          <a:p>
            <a:r>
              <a:t>trading</a:t>
            </a:r>
          </a:p>
          <a:p>
            <a:r>
              <a:t>THEN</a:t>
            </a:r>
          </a:p>
          <a:p>
            <a:r>
              <a:t>Agent-driven</a:t>
            </a:r>
          </a:p>
          <a:p>
            <a:r>
              <a:t>experiment</a:t>
            </a:r>
          </a:p>
          <a:p>
            <a:r>
              <a:t>generation</a:t>
            </a:r>
          </a:p>
          <a:p>
            <a:r>
              <a:t>FINALLY</a:t>
            </a:r>
          </a:p>
          <a:p>
            <a:r>
              <a:t>Risk-controlled</a:t>
            </a:r>
          </a:p>
          <a:p>
            <a:r>
              <a:t>Robinhood</a:t>
            </a:r>
          </a:p>
          <a:p>
            <a:r>
              <a:t>execution</a:t>
            </a:r>
          </a:p>
          <a:p>
            <a:r>
              <a:t>LIVE TRADING DISABLED TODAY</a:t>
            </a:r>
          </a:p>
          <a:p>
            <a:r>
              <a:t>Promotion requires evidence, not a better story.</a:t>
            </a:r>
          </a:p>
          <a:p>
            <a:r>
              <a:t>```</a:t>
            </a:r>
          </a:p>
          <a:p>
            <a:r>
              <a:t>### Visual layout</a:t>
            </a:r>
          </a:p>
          <a:p>
            <a:r>
              <a:t>Four milestones; NOW mint, NEXT amber, remaining muted. No deployment dates,</a:t>
            </a:r>
          </a:p>
          <a:p>
            <a:r>
              <a:t>live toggle, or implied permission to execute.</a:t>
            </a:r>
          </a:p>
          <a:p>
            <a:r>
              <a:t>### Data source</a:t>
            </a:r>
          </a:p>
          <a:p>
            <a:r>
              <a:t>[Research reopening gates](../docs/research-status.md) and</a:t>
            </a:r>
          </a:p>
          <a:p>
            <a:r>
              <a:t>[unchanged constitution](../src/agentic_quant_lab/constitution.toml).</a:t>
            </a:r>
          </a:p>
          <a:p>
            <a:r>
              <a:t>### Speaker-note summary</a:t>
            </a:r>
          </a:p>
          <a:p>
            <a:r>
              <a:t>Qualified data and separately accepted paper/shadow trading come before</a:t>
            </a:r>
          </a:p>
          <a:p>
            <a:r>
              <a:t>agent-driven experiment generation and authorized broker execution.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**Timing:** 15 seconds · 6:25–6:40</a:t>
            </a:r>
          </a:p>
          <a:p/>
          <a:p>
            <a:r>
              <a:t>### Goal</a:t>
            </a:r>
          </a:p>
          <a:p>
            <a:r>
              <a:t>End on the ability to abstain, not a promise of returns.</a:t>
            </a:r>
          </a:p>
          <a:p/>
          <a:p>
            <a:r>
              <a:t>### Script</a:t>
            </a:r>
          </a:p>
          <a:p>
            <a:r>
              <a:t>We're not using AI to guess trades. We're using it to decide which ideas deserve</a:t>
            </a:r>
          </a:p>
          <a:p>
            <a:r>
              <a:t>to survive.</a:t>
            </a:r>
          </a:p>
          <a:p/>
          <a:p>
            <a:r>
              <a:t>The goal isn't an AI that trades more.</a:t>
            </a:r>
          </a:p>
          <a:p>
            <a:r>
              <a:t>It's an AI that knows when not to trade.</a:t>
            </a:r>
          </a:p>
          <a:p/>
          <a:p>
            <a:r>
              <a:t>### Transition</a:t>
            </a:r>
          </a:p>
          <a:p>
            <a:r>
              <a:t>None — hold the final slide in silence. Do not read this cue aloud.</a:t>
            </a:r>
          </a:p>
          <a:p/>
          <a:p/>
          <a:p/>
          <a:p>
            <a:r>
              <a:t>EDITABLE SLIDE SPECIFICATION / SOURCES</a:t>
            </a:r>
          </a:p>
          <a:p/>
          <a:p>
            <a:r>
              <a:t>### On-slide text</a:t>
            </a:r>
          </a:p>
          <a:p>
            <a:r>
              <a:t>```text</a:t>
            </a:r>
          </a:p>
          <a:p>
            <a:r>
              <a:t>The goal isn’t an AI that trades more.</a:t>
            </a:r>
          </a:p>
          <a:p>
            <a:r>
              <a:t>It’s an AI that knows</a:t>
            </a:r>
          </a:p>
          <a:p>
            <a:r>
              <a:t>when NOT to trade.</a:t>
            </a:r>
          </a:p>
          <a:p>
            <a:r>
              <a:t>RESEARCH</a:t>
            </a:r>
          </a:p>
          <a:p>
            <a:r>
              <a:t>EVIDENCE</a:t>
            </a:r>
          </a:p>
          <a:p>
            <a:r>
              <a:t>FALSIFICATION</a:t>
            </a:r>
          </a:p>
          <a:p>
            <a:r>
              <a:t>RISK</a:t>
            </a:r>
          </a:p>
          <a:p>
            <a:r>
              <a:t>Agentic Quant Lab</a:t>
            </a:r>
          </a:p>
          <a:p>
            <a:r>
              <a:t>github.com/BruceGK/agentic-quant-lab</a:t>
            </a:r>
          </a:p>
          <a:p>
            <a:r>
              <a:t>```</a:t>
            </a:r>
          </a:p>
          <a:p>
            <a:r>
              <a:t>### Visual layout</a:t>
            </a:r>
          </a:p>
          <a:p>
            <a:r>
              <a:t>Oversized two-line statement, NOT mint. Four restrained labels. Clean ending.</a:t>
            </a:r>
          </a:p>
          <a:p>
            <a:r>
              <a:t>### Data source</a:t>
            </a:r>
          </a:p>
          <a:p>
            <a:r>
              <a:t>Product thesis, not a performance or investment claim.</a:t>
            </a:r>
          </a:p>
          <a:p>
            <a:r>
              <a:t>### Speaker-note summary</a:t>
            </a:r>
          </a:p>
          <a:p>
            <a:r>
              <a:t>Close with disciplined abstention. Hold the slide without another summary.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etadata-text-2"/>
          <p:cNvSpPr txBox="1"/>
          <p:nvPr/>
        </p:nvSpPr>
        <p:spPr>
          <a:xfrm>
            <a:off x="502920" y="2468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DE5C1"/>
                </a:solidFill>
                <a:latin typeface="Arial"/>
              </a:defRPr>
            </a:pPr>
            <a:r>
              <a:t>AQL / THE IDEA</a:t>
            </a:r>
          </a:p>
        </p:txBody>
      </p:sp>
      <p:sp>
        <p:nvSpPr>
          <p:cNvPr id="3" name="metadata-text-3"/>
          <p:cNvSpPr txBox="1"/>
          <p:nvPr/>
        </p:nvSpPr>
        <p:spPr>
          <a:xfrm>
            <a:off x="502920" y="6464808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1C0D4"/>
                </a:solidFill>
                <a:latin typeface="Arial"/>
              </a:defRPr>
            </a:pPr>
            <a:r>
              <a:t>AGENTIC QUANT LAB</a:t>
            </a:r>
          </a:p>
        </p:txBody>
      </p:sp>
      <p:sp>
        <p:nvSpPr>
          <p:cNvPr id="4" name="metadata-text-4"/>
          <p:cNvSpPr txBox="1"/>
          <p:nvPr/>
        </p:nvSpPr>
        <p:spPr>
          <a:xfrm>
            <a:off x="10698480" y="6446520"/>
            <a:ext cx="98755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1C0D4"/>
                </a:solidFill>
                <a:latin typeface="Arial"/>
              </a:defRPr>
            </a:pPr>
            <a:r>
              <a:t>01 /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739128"/>
            <a:ext cx="955547" cy="22860"/>
          </a:xfrm>
          <a:prstGeom prst="rect">
            <a:avLst/>
          </a:prstGeom>
          <a:solidFill>
            <a:srgbClr val="6DE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22476" y="6739128"/>
            <a:ext cx="955547" cy="22860"/>
          </a:xfrm>
          <a:prstGeom prst="rect">
            <a:avLst/>
          </a:prstGeom>
          <a:solidFill>
            <a:srgbClr val="344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42032" y="6739128"/>
            <a:ext cx="955547" cy="22860"/>
          </a:xfrm>
          <a:prstGeom prst="rect">
            <a:avLst/>
          </a:prstGeom>
          <a:solidFill>
            <a:srgbClr val="344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561587" y="6739128"/>
            <a:ext cx="955547" cy="22860"/>
          </a:xfrm>
          <a:prstGeom prst="rect">
            <a:avLst/>
          </a:prstGeom>
          <a:solidFill>
            <a:srgbClr val="344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81144" y="6739128"/>
            <a:ext cx="955547" cy="22860"/>
          </a:xfrm>
          <a:prstGeom prst="rect">
            <a:avLst/>
          </a:prstGeom>
          <a:solidFill>
            <a:srgbClr val="344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00700" y="6739128"/>
            <a:ext cx="955547" cy="22860"/>
          </a:xfrm>
          <a:prstGeom prst="rect">
            <a:avLst/>
          </a:prstGeom>
          <a:solidFill>
            <a:srgbClr val="344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620255" y="6739128"/>
            <a:ext cx="955547" cy="22860"/>
          </a:xfrm>
          <a:prstGeom prst="rect">
            <a:avLst/>
          </a:prstGeom>
          <a:solidFill>
            <a:srgbClr val="344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39812" y="6739128"/>
            <a:ext cx="955547" cy="22860"/>
          </a:xfrm>
          <a:prstGeom prst="rect">
            <a:avLst/>
          </a:prstGeom>
          <a:solidFill>
            <a:srgbClr val="344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59368" y="6739128"/>
            <a:ext cx="955547" cy="22860"/>
          </a:xfrm>
          <a:prstGeom prst="rect">
            <a:avLst/>
          </a:prstGeom>
          <a:solidFill>
            <a:srgbClr val="344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78924" y="6739128"/>
            <a:ext cx="955547" cy="22860"/>
          </a:xfrm>
          <a:prstGeom prst="rect">
            <a:avLst/>
          </a:prstGeom>
          <a:solidFill>
            <a:srgbClr val="344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98480" y="6739128"/>
            <a:ext cx="955547" cy="22860"/>
          </a:xfrm>
          <a:prstGeom prst="rect">
            <a:avLst/>
          </a:prstGeom>
          <a:solidFill>
            <a:srgbClr val="344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body-text-16"/>
          <p:cNvSpPr txBox="1"/>
          <p:nvPr/>
        </p:nvSpPr>
        <p:spPr>
          <a:xfrm>
            <a:off x="502920" y="1143000"/>
            <a:ext cx="694944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6200" b="1">
                <a:solidFill>
                  <a:srgbClr val="F4F7FC"/>
                </a:solidFill>
                <a:latin typeface="Arial"/>
              </a:defRPr>
            </a:pPr>
            <a:r>
              <a:t>Agentic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6200" b="1">
                <a:solidFill>
                  <a:srgbClr val="F4F7FC"/>
                </a:solidFill>
                <a:latin typeface="Arial"/>
              </a:defRPr>
            </a:pPr>
            <a:r>
              <a:t>Quant Lab</a:t>
            </a:r>
          </a:p>
        </p:txBody>
      </p:sp>
      <p:sp>
        <p:nvSpPr>
          <p:cNvPr id="17" name="body-text-17"/>
          <p:cNvSpPr txBox="1"/>
          <p:nvPr/>
        </p:nvSpPr>
        <p:spPr>
          <a:xfrm>
            <a:off x="548640" y="3218688"/>
            <a:ext cx="640080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B1C0D4"/>
                </a:solidFill>
                <a:latin typeface="Arial"/>
              </a:defRPr>
            </a:pPr>
            <a:r>
              <a:t>From AI-generated hypotheses to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B1C0D4"/>
                </a:solidFill>
                <a:latin typeface="Arial"/>
              </a:defRPr>
            </a:pPr>
            <a:r>
              <a:t>evidence-backed trading strategies</a:t>
            </a:r>
          </a:p>
        </p:txBody>
      </p:sp>
      <p:sp>
        <p:nvSpPr>
          <p:cNvPr id="18" name="body-text-18"/>
          <p:cNvSpPr txBox="1"/>
          <p:nvPr/>
        </p:nvSpPr>
        <p:spPr>
          <a:xfrm>
            <a:off x="548640" y="4800600"/>
            <a:ext cx="6400800" cy="859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6DE5C1"/>
                </a:solidFill>
                <a:latin typeface="Arial"/>
              </a:defRPr>
            </a:pPr>
            <a:r>
              <a:t>Agents research.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6DE5C1"/>
                </a:solidFill>
                <a:latin typeface="Arial"/>
              </a:defRPr>
            </a:pPr>
            <a:r>
              <a:t>Deterministic systems decide.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18120" y="1371600"/>
            <a:ext cx="3383280" cy="758952"/>
          </a:xfrm>
          <a:prstGeom prst="roundRect">
            <a:avLst>
              <a:gd name="adj" fmla="val 12000"/>
            </a:avLst>
          </a:prstGeom>
          <a:solidFill>
            <a:srgbClr val="142137"/>
          </a:solidFill>
          <a:ln w="15875">
            <a:solidFill>
              <a:srgbClr val="B9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ody-text-20"/>
          <p:cNvSpPr txBox="1"/>
          <p:nvPr/>
        </p:nvSpPr>
        <p:spPr>
          <a:xfrm>
            <a:off x="7882128" y="1389888"/>
            <a:ext cx="3255264" cy="722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B9A3FF"/>
                </a:solidFill>
                <a:latin typeface="Arial"/>
              </a:defRPr>
            </a:pPr>
            <a:r>
              <a:t>RESEARCH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509760" y="2148840"/>
            <a:ext cx="0" cy="228600"/>
          </a:xfrm>
          <a:prstGeom prst="line">
            <a:avLst/>
          </a:prstGeom>
          <a:ln w="21590">
            <a:solidFill>
              <a:srgbClr val="6DE5C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818120" y="2414015"/>
            <a:ext cx="3383280" cy="758952"/>
          </a:xfrm>
          <a:prstGeom prst="roundRect">
            <a:avLst>
              <a:gd name="adj" fmla="val 12000"/>
            </a:avLst>
          </a:prstGeom>
          <a:solidFill>
            <a:srgbClr val="142137"/>
          </a:solidFill>
          <a:ln w="15875">
            <a:solidFill>
              <a:srgbClr val="6DE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body-text-23"/>
          <p:cNvSpPr txBox="1"/>
          <p:nvPr/>
        </p:nvSpPr>
        <p:spPr>
          <a:xfrm>
            <a:off x="7882128" y="2432303"/>
            <a:ext cx="3255264" cy="722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6DE5C1"/>
                </a:solidFill>
                <a:latin typeface="Arial"/>
              </a:defRPr>
            </a:pPr>
            <a:r>
              <a:t>EVIDENCE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509760" y="3191256"/>
            <a:ext cx="0" cy="228600"/>
          </a:xfrm>
          <a:prstGeom prst="line">
            <a:avLst/>
          </a:prstGeom>
          <a:ln w="21590">
            <a:solidFill>
              <a:srgbClr val="6DE5C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818120" y="3456432"/>
            <a:ext cx="3383280" cy="758952"/>
          </a:xfrm>
          <a:prstGeom prst="roundRect">
            <a:avLst>
              <a:gd name="adj" fmla="val 12000"/>
            </a:avLst>
          </a:prstGeom>
          <a:solidFill>
            <a:srgbClr val="142137"/>
          </a:solidFill>
          <a:ln w="15875">
            <a:solidFill>
              <a:srgbClr val="6DE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ody-text-26"/>
          <p:cNvSpPr txBox="1"/>
          <p:nvPr/>
        </p:nvSpPr>
        <p:spPr>
          <a:xfrm>
            <a:off x="7882128" y="3474720"/>
            <a:ext cx="3255264" cy="722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6DE5C1"/>
                </a:solidFill>
                <a:latin typeface="Arial"/>
              </a:defRPr>
            </a:pPr>
            <a:r>
              <a:t>RISK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509760" y="4233672"/>
            <a:ext cx="0" cy="228600"/>
          </a:xfrm>
          <a:prstGeom prst="line">
            <a:avLst/>
          </a:prstGeom>
          <a:ln w="21590">
            <a:solidFill>
              <a:srgbClr val="6DE5C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818120" y="4498848"/>
            <a:ext cx="3383280" cy="758952"/>
          </a:xfrm>
          <a:prstGeom prst="roundRect">
            <a:avLst>
              <a:gd name="adj" fmla="val 12000"/>
            </a:avLst>
          </a:prstGeom>
          <a:solidFill>
            <a:srgbClr val="142137"/>
          </a:solidFill>
          <a:ln w="15875">
            <a:solidFill>
              <a:srgbClr val="6DE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body-text-29"/>
          <p:cNvSpPr txBox="1"/>
          <p:nvPr/>
        </p:nvSpPr>
        <p:spPr>
          <a:xfrm>
            <a:off x="7882128" y="4517136"/>
            <a:ext cx="3255264" cy="722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6DE5C1"/>
                </a:solidFill>
                <a:latin typeface="Arial"/>
              </a:defRPr>
            </a:pPr>
            <a:r>
              <a:t>EXECUTION / DRY RUN</a:t>
            </a:r>
          </a:p>
        </p:txBody>
      </p:sp>
      <p:sp>
        <p:nvSpPr>
          <p:cNvPr id="30" name="metadata-text-30"/>
          <p:cNvSpPr txBox="1"/>
          <p:nvPr/>
        </p:nvSpPr>
        <p:spPr>
          <a:xfrm>
            <a:off x="7360920" y="5779008"/>
            <a:ext cx="41148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B1C0D4"/>
                </a:solidFill>
                <a:latin typeface="Arial"/>
              </a:defRPr>
            </a:pPr>
            <a:r>
              <a:t>VISION → DISCIPLINED RESEARCH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etadata-text-2"/>
          <p:cNvSpPr txBox="1"/>
          <p:nvPr/>
        </p:nvSpPr>
        <p:spPr>
          <a:xfrm>
            <a:off x="502920" y="2468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DE5C1"/>
                </a:solidFill>
                <a:latin typeface="Arial"/>
              </a:defRPr>
            </a:pPr>
            <a:r>
              <a:t>AQL / THE TRUST PROBLEM</a:t>
            </a:r>
          </a:p>
        </p:txBody>
      </p:sp>
      <p:sp>
        <p:nvSpPr>
          <p:cNvPr id="3" name="body-text-3"/>
          <p:cNvSpPr txBox="1"/>
          <p:nvPr/>
        </p:nvSpPr>
        <p:spPr>
          <a:xfrm>
            <a:off x="502920" y="731520"/>
            <a:ext cx="11183112" cy="1024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F4F7FC"/>
                </a:solidFill>
                <a:latin typeface="Arial"/>
              </a:defRPr>
            </a:pPr>
            <a:r>
              <a:t>AI can generate trades. Can we trust them?</a:t>
            </a:r>
          </a:p>
        </p:txBody>
      </p:sp>
      <p:sp>
        <p:nvSpPr>
          <p:cNvPr id="4" name="metadata-text-4"/>
          <p:cNvSpPr txBox="1"/>
          <p:nvPr/>
        </p:nvSpPr>
        <p:spPr>
          <a:xfrm>
            <a:off x="502920" y="6464808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1C0D4"/>
                </a:solidFill>
                <a:latin typeface="Arial"/>
              </a:defRPr>
            </a:pPr>
            <a:r>
              <a:t>AGENTIC QUANT LAB</a:t>
            </a:r>
          </a:p>
        </p:txBody>
      </p:sp>
      <p:sp>
        <p:nvSpPr>
          <p:cNvPr id="5" name="metadata-text-5"/>
          <p:cNvSpPr txBox="1"/>
          <p:nvPr/>
        </p:nvSpPr>
        <p:spPr>
          <a:xfrm>
            <a:off x="10698480" y="6446520"/>
            <a:ext cx="98755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1C0D4"/>
                </a:solidFill>
                <a:latin typeface="Arial"/>
              </a:defRPr>
            </a:pPr>
            <a:r>
              <a:t>02 / 11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739128"/>
            <a:ext cx="955547" cy="22860"/>
          </a:xfrm>
          <a:prstGeom prst="rect">
            <a:avLst/>
          </a:prstGeom>
          <a:solidFill>
            <a:srgbClr val="6DE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522476" y="6739128"/>
            <a:ext cx="955547" cy="22860"/>
          </a:xfrm>
          <a:prstGeom prst="rect">
            <a:avLst/>
          </a:prstGeom>
          <a:solidFill>
            <a:srgbClr val="6DE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42032" y="6739128"/>
            <a:ext cx="955547" cy="22860"/>
          </a:xfrm>
          <a:prstGeom prst="rect">
            <a:avLst/>
          </a:prstGeom>
          <a:solidFill>
            <a:srgbClr val="344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61587" y="6739128"/>
            <a:ext cx="955547" cy="22860"/>
          </a:xfrm>
          <a:prstGeom prst="rect">
            <a:avLst/>
          </a:prstGeom>
          <a:solidFill>
            <a:srgbClr val="344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81144" y="6739128"/>
            <a:ext cx="955547" cy="22860"/>
          </a:xfrm>
          <a:prstGeom prst="rect">
            <a:avLst/>
          </a:prstGeom>
          <a:solidFill>
            <a:srgbClr val="344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00700" y="6739128"/>
            <a:ext cx="955547" cy="22860"/>
          </a:xfrm>
          <a:prstGeom prst="rect">
            <a:avLst/>
          </a:prstGeom>
          <a:solidFill>
            <a:srgbClr val="344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20255" y="6739128"/>
            <a:ext cx="955547" cy="22860"/>
          </a:xfrm>
          <a:prstGeom prst="rect">
            <a:avLst/>
          </a:prstGeom>
          <a:solidFill>
            <a:srgbClr val="344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639812" y="6739128"/>
            <a:ext cx="955547" cy="22860"/>
          </a:xfrm>
          <a:prstGeom prst="rect">
            <a:avLst/>
          </a:prstGeom>
          <a:solidFill>
            <a:srgbClr val="344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659368" y="6739128"/>
            <a:ext cx="955547" cy="22860"/>
          </a:xfrm>
          <a:prstGeom prst="rect">
            <a:avLst/>
          </a:prstGeom>
          <a:solidFill>
            <a:srgbClr val="344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678924" y="6739128"/>
            <a:ext cx="955547" cy="22860"/>
          </a:xfrm>
          <a:prstGeom prst="rect">
            <a:avLst/>
          </a:prstGeom>
          <a:solidFill>
            <a:srgbClr val="344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698480" y="6739128"/>
            <a:ext cx="955547" cy="22860"/>
          </a:xfrm>
          <a:prstGeom prst="rect">
            <a:avLst/>
          </a:prstGeom>
          <a:solidFill>
            <a:srgbClr val="344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920" y="1874519"/>
            <a:ext cx="11183112" cy="1143000"/>
          </a:xfrm>
          <a:prstGeom prst="roundRect">
            <a:avLst>
              <a:gd name="adj" fmla="val 12000"/>
            </a:avLst>
          </a:prstGeom>
          <a:solidFill>
            <a:srgbClr val="25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ody-text-18"/>
          <p:cNvSpPr txBox="1"/>
          <p:nvPr/>
        </p:nvSpPr>
        <p:spPr>
          <a:xfrm>
            <a:off x="731520" y="1993392"/>
            <a:ext cx="27432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929D"/>
                </a:solidFill>
                <a:latin typeface="Arial"/>
              </a:defRPr>
            </a:pPr>
            <a:r>
              <a:t>TYPICAL AI TRADING BOT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03320" y="2130552"/>
            <a:ext cx="2221992" cy="603504"/>
          </a:xfrm>
          <a:prstGeom prst="roundRect">
            <a:avLst>
              <a:gd name="adj" fmla="val 12000"/>
            </a:avLst>
          </a:prstGeom>
          <a:solidFill>
            <a:srgbClr val="142137"/>
          </a:solidFill>
          <a:ln w="15875">
            <a:solidFill>
              <a:srgbClr val="FF92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ody-text-20"/>
          <p:cNvSpPr txBox="1"/>
          <p:nvPr/>
        </p:nvSpPr>
        <p:spPr>
          <a:xfrm>
            <a:off x="3767328" y="2148840"/>
            <a:ext cx="209397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929D"/>
                </a:solidFill>
                <a:latin typeface="Arial"/>
              </a:defRPr>
            </a:pPr>
            <a:r>
              <a:t>LLM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952744" y="2432304"/>
            <a:ext cx="338328" cy="0"/>
          </a:xfrm>
          <a:prstGeom prst="line">
            <a:avLst/>
          </a:prstGeom>
          <a:ln w="21590">
            <a:solidFill>
              <a:srgbClr val="FF929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355079" y="2130552"/>
            <a:ext cx="2221992" cy="603504"/>
          </a:xfrm>
          <a:prstGeom prst="roundRect">
            <a:avLst>
              <a:gd name="adj" fmla="val 12000"/>
            </a:avLst>
          </a:prstGeom>
          <a:solidFill>
            <a:srgbClr val="142137"/>
          </a:solidFill>
          <a:ln w="15875">
            <a:solidFill>
              <a:srgbClr val="FF92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body-text-23"/>
          <p:cNvSpPr txBox="1"/>
          <p:nvPr/>
        </p:nvSpPr>
        <p:spPr>
          <a:xfrm>
            <a:off x="6419088" y="2148840"/>
            <a:ext cx="209397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929D"/>
                </a:solidFill>
                <a:latin typeface="Arial"/>
              </a:defRPr>
            </a:pPr>
            <a:r>
              <a:t>“Bullish”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604504" y="2432304"/>
            <a:ext cx="338328" cy="0"/>
          </a:xfrm>
          <a:prstGeom prst="line">
            <a:avLst/>
          </a:prstGeom>
          <a:ln w="21590">
            <a:solidFill>
              <a:srgbClr val="FF929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06840" y="2130552"/>
            <a:ext cx="2221992" cy="603504"/>
          </a:xfrm>
          <a:prstGeom prst="roundRect">
            <a:avLst>
              <a:gd name="adj" fmla="val 12000"/>
            </a:avLst>
          </a:prstGeom>
          <a:solidFill>
            <a:srgbClr val="142137"/>
          </a:solidFill>
          <a:ln w="15875">
            <a:solidFill>
              <a:srgbClr val="FF92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ody-text-26"/>
          <p:cNvSpPr txBox="1"/>
          <p:nvPr/>
        </p:nvSpPr>
        <p:spPr>
          <a:xfrm>
            <a:off x="9070848" y="2148840"/>
            <a:ext cx="209397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929D"/>
                </a:solidFill>
                <a:latin typeface="Arial"/>
              </a:defRPr>
            </a:pPr>
            <a:r>
              <a:t>BUY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3218688"/>
            <a:ext cx="11183112" cy="1408176"/>
          </a:xfrm>
          <a:prstGeom prst="roundRect">
            <a:avLst>
              <a:gd name="adj" fmla="val 12000"/>
            </a:avLst>
          </a:prstGeom>
          <a:solidFill>
            <a:srgbClr val="14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body-text-28"/>
          <p:cNvSpPr txBox="1"/>
          <p:nvPr/>
        </p:nvSpPr>
        <p:spPr>
          <a:xfrm>
            <a:off x="731520" y="3337560"/>
            <a:ext cx="38404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6DE5C1"/>
                </a:solidFill>
                <a:latin typeface="Arial"/>
              </a:defRPr>
            </a:pPr>
            <a:r>
              <a:t>AGENTIC QUANT LAB</a:t>
            </a:r>
          </a:p>
        </p:txBody>
      </p:sp>
      <p:sp>
        <p:nvSpPr>
          <p:cNvPr id="29" name="metadata-text-29"/>
          <p:cNvSpPr txBox="1"/>
          <p:nvPr/>
        </p:nvSpPr>
        <p:spPr>
          <a:xfrm>
            <a:off x="5486400" y="3364992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B1C0D4"/>
                </a:solidFill>
                <a:latin typeface="Arial"/>
              </a:defRPr>
            </a:pPr>
            <a:r>
              <a:t>*Future only. Today ends at dry run.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3822191"/>
            <a:ext cx="1975104" cy="585216"/>
          </a:xfrm>
          <a:prstGeom prst="roundRect">
            <a:avLst>
              <a:gd name="adj" fmla="val 12000"/>
            </a:avLst>
          </a:prstGeom>
          <a:solidFill>
            <a:srgbClr val="142137"/>
          </a:solidFill>
          <a:ln w="15875">
            <a:solidFill>
              <a:srgbClr val="6DE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body-text-31"/>
          <p:cNvSpPr txBox="1"/>
          <p:nvPr/>
        </p:nvSpPr>
        <p:spPr>
          <a:xfrm>
            <a:off x="795528" y="3840479"/>
            <a:ext cx="184708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6DE5C1"/>
                </a:solidFill>
                <a:latin typeface="Arial"/>
              </a:defRPr>
            </a:pPr>
            <a:r>
              <a:t>Hypothesis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2715768" y="4114800"/>
            <a:ext cx="164592" cy="0"/>
          </a:xfrm>
          <a:prstGeom prst="line">
            <a:avLst/>
          </a:prstGeom>
          <a:ln w="21590">
            <a:solidFill>
              <a:srgbClr val="6DE5C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2926080" y="3822191"/>
            <a:ext cx="1975104" cy="585216"/>
          </a:xfrm>
          <a:prstGeom prst="roundRect">
            <a:avLst>
              <a:gd name="adj" fmla="val 12000"/>
            </a:avLst>
          </a:prstGeom>
          <a:solidFill>
            <a:srgbClr val="142137"/>
          </a:solidFill>
          <a:ln w="15875">
            <a:solidFill>
              <a:srgbClr val="6DE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body-text-34"/>
          <p:cNvSpPr txBox="1"/>
          <p:nvPr/>
        </p:nvSpPr>
        <p:spPr>
          <a:xfrm>
            <a:off x="2990088" y="3840479"/>
            <a:ext cx="184708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6DE5C1"/>
                </a:solidFill>
                <a:latin typeface="Arial"/>
              </a:defRPr>
            </a:pPr>
            <a:r>
              <a:t>Evidence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4910328" y="4114800"/>
            <a:ext cx="164592" cy="0"/>
          </a:xfrm>
          <a:prstGeom prst="line">
            <a:avLst/>
          </a:prstGeom>
          <a:ln w="21590">
            <a:solidFill>
              <a:srgbClr val="6DE5C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5120640" y="3822191"/>
            <a:ext cx="1975104" cy="585216"/>
          </a:xfrm>
          <a:prstGeom prst="roundRect">
            <a:avLst>
              <a:gd name="adj" fmla="val 12000"/>
            </a:avLst>
          </a:prstGeom>
          <a:solidFill>
            <a:srgbClr val="142137"/>
          </a:solidFill>
          <a:ln w="15875">
            <a:solidFill>
              <a:srgbClr val="6DE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body-text-37"/>
          <p:cNvSpPr txBox="1"/>
          <p:nvPr/>
        </p:nvSpPr>
        <p:spPr>
          <a:xfrm>
            <a:off x="5184648" y="3840479"/>
            <a:ext cx="184708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6DE5C1"/>
                </a:solidFill>
                <a:latin typeface="Arial"/>
              </a:defRPr>
            </a:pPr>
            <a:r>
              <a:t>Falsification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104888" y="4114800"/>
            <a:ext cx="164591" cy="0"/>
          </a:xfrm>
          <a:prstGeom prst="line">
            <a:avLst/>
          </a:prstGeom>
          <a:ln w="21590">
            <a:solidFill>
              <a:srgbClr val="6DE5C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315199" y="3822191"/>
            <a:ext cx="1975104" cy="585216"/>
          </a:xfrm>
          <a:prstGeom prst="roundRect">
            <a:avLst>
              <a:gd name="adj" fmla="val 12000"/>
            </a:avLst>
          </a:prstGeom>
          <a:solidFill>
            <a:srgbClr val="142137"/>
          </a:solidFill>
          <a:ln w="15875">
            <a:solidFill>
              <a:srgbClr val="6DE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body-text-40"/>
          <p:cNvSpPr txBox="1"/>
          <p:nvPr/>
        </p:nvSpPr>
        <p:spPr>
          <a:xfrm>
            <a:off x="7379207" y="3840479"/>
            <a:ext cx="184708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6DE5C1"/>
                </a:solidFill>
                <a:latin typeface="Arial"/>
              </a:defRPr>
            </a:pPr>
            <a:r>
              <a:t>RiskGate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299447" y="4114800"/>
            <a:ext cx="164593" cy="0"/>
          </a:xfrm>
          <a:prstGeom prst="line">
            <a:avLst/>
          </a:prstGeom>
          <a:ln w="21590">
            <a:solidFill>
              <a:srgbClr val="6DE5C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9509760" y="3822191"/>
            <a:ext cx="1975104" cy="585216"/>
          </a:xfrm>
          <a:prstGeom prst="roundRect">
            <a:avLst>
              <a:gd name="adj" fmla="val 12000"/>
            </a:avLst>
          </a:prstGeom>
          <a:solidFill>
            <a:srgbClr val="142137"/>
          </a:solidFill>
          <a:ln w="15875">
            <a:solidFill>
              <a:srgbClr val="6DE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body-text-43"/>
          <p:cNvSpPr txBox="1"/>
          <p:nvPr/>
        </p:nvSpPr>
        <p:spPr>
          <a:xfrm>
            <a:off x="9573768" y="3840479"/>
            <a:ext cx="184708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6DE5C1"/>
                </a:solidFill>
                <a:latin typeface="Arial"/>
              </a:defRPr>
            </a:pPr>
            <a:r>
              <a:t>Trade*</a:t>
            </a:r>
          </a:p>
        </p:txBody>
      </p:sp>
      <p:sp>
        <p:nvSpPr>
          <p:cNvPr id="44" name="body-text-44"/>
          <p:cNvSpPr txBox="1"/>
          <p:nvPr/>
        </p:nvSpPr>
        <p:spPr>
          <a:xfrm>
            <a:off x="548640" y="4773168"/>
            <a:ext cx="26517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B1C0D4"/>
                </a:solidFill>
                <a:latin typeface="Arial"/>
              </a:defRPr>
            </a:pPr>
            <a:r>
              <a:t>Hallucinated reasoning</a:t>
            </a:r>
          </a:p>
        </p:txBody>
      </p:sp>
      <p:sp>
        <p:nvSpPr>
          <p:cNvPr id="45" name="body-text-45"/>
          <p:cNvSpPr txBox="1"/>
          <p:nvPr/>
        </p:nvSpPr>
        <p:spPr>
          <a:xfrm>
            <a:off x="3383280" y="4773168"/>
            <a:ext cx="26517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B1C0D4"/>
                </a:solidFill>
                <a:latin typeface="Arial"/>
              </a:defRPr>
            </a:pPr>
            <a:r>
              <a:t>Backtest overfitting</a:t>
            </a:r>
          </a:p>
        </p:txBody>
      </p:sp>
      <p:sp>
        <p:nvSpPr>
          <p:cNvPr id="46" name="body-text-46"/>
          <p:cNvSpPr txBox="1"/>
          <p:nvPr/>
        </p:nvSpPr>
        <p:spPr>
          <a:xfrm>
            <a:off x="6217920" y="4773168"/>
            <a:ext cx="26517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B1C0D4"/>
                </a:solidFill>
                <a:latin typeface="Arial"/>
              </a:defRPr>
            </a:pPr>
            <a:r>
              <a:t>Look-ahead / bad data</a:t>
            </a:r>
          </a:p>
        </p:txBody>
      </p:sp>
      <p:sp>
        <p:nvSpPr>
          <p:cNvPr id="47" name="body-text-47"/>
          <p:cNvSpPr txBox="1"/>
          <p:nvPr/>
        </p:nvSpPr>
        <p:spPr>
          <a:xfrm>
            <a:off x="9052560" y="4773168"/>
            <a:ext cx="26517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B1C0D4"/>
                </a:solidFill>
                <a:latin typeface="Arial"/>
              </a:defRPr>
            </a:pPr>
            <a:r>
              <a:t>Uncontrolled execution</a:t>
            </a:r>
          </a:p>
        </p:txBody>
      </p:sp>
      <p:sp>
        <p:nvSpPr>
          <p:cNvPr id="48" name="body-text-48"/>
          <p:cNvSpPr txBox="1"/>
          <p:nvPr/>
        </p:nvSpPr>
        <p:spPr>
          <a:xfrm>
            <a:off x="502920" y="5486400"/>
            <a:ext cx="111831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4F7FC"/>
                </a:solidFill>
                <a:latin typeface="Arial"/>
              </a:defRPr>
            </a:pPr>
            <a:r>
              <a:t>The hard problem isn't generating strategies.</a:t>
            </a:r>
          </a:p>
        </p:txBody>
      </p:sp>
      <p:sp>
        <p:nvSpPr>
          <p:cNvPr id="49" name="body-text-49"/>
          <p:cNvSpPr txBox="1"/>
          <p:nvPr/>
        </p:nvSpPr>
        <p:spPr>
          <a:xfrm>
            <a:off x="502920" y="5888736"/>
            <a:ext cx="11183112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6DE5C1"/>
                </a:solidFill>
                <a:latin typeface="Arial"/>
              </a:defRPr>
            </a:pPr>
            <a:r>
              <a:t>It's rejecting bad ones.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etadata-text-2"/>
          <p:cNvSpPr txBox="1"/>
          <p:nvPr/>
        </p:nvSpPr>
        <p:spPr>
          <a:xfrm>
            <a:off x="502920" y="2468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DE5C1"/>
                </a:solidFill>
                <a:latin typeface="Arial"/>
              </a:defRPr>
            </a:pPr>
            <a:r>
              <a:t>AQL / TARGET ARCHITECTURE</a:t>
            </a:r>
          </a:p>
        </p:txBody>
      </p:sp>
      <p:sp>
        <p:nvSpPr>
          <p:cNvPr id="3" name="body-text-3"/>
          <p:cNvSpPr txBox="1"/>
          <p:nvPr/>
        </p:nvSpPr>
        <p:spPr>
          <a:xfrm>
            <a:off x="502920" y="731520"/>
            <a:ext cx="11183112" cy="1024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F4F7FC"/>
                </a:solidFill>
                <a:latin typeface="Arial"/>
              </a:defRPr>
            </a:pPr>
            <a:r>
              <a:t>An autonomous research loop</a:t>
            </a:r>
          </a:p>
        </p:txBody>
      </p:sp>
      <p:sp>
        <p:nvSpPr>
          <p:cNvPr id="4" name="metadata-text-4"/>
          <p:cNvSpPr txBox="1"/>
          <p:nvPr/>
        </p:nvSpPr>
        <p:spPr>
          <a:xfrm>
            <a:off x="502920" y="6464808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1C0D4"/>
                </a:solidFill>
                <a:latin typeface="Arial"/>
              </a:defRPr>
            </a:pPr>
            <a:r>
              <a:t>AGENTIC QUANT LAB</a:t>
            </a:r>
          </a:p>
        </p:txBody>
      </p:sp>
      <p:sp>
        <p:nvSpPr>
          <p:cNvPr id="5" name="metadata-text-5"/>
          <p:cNvSpPr txBox="1"/>
          <p:nvPr/>
        </p:nvSpPr>
        <p:spPr>
          <a:xfrm>
            <a:off x="10698480" y="6446520"/>
            <a:ext cx="98755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1C0D4"/>
                </a:solidFill>
                <a:latin typeface="Arial"/>
              </a:defRPr>
            </a:pPr>
            <a:r>
              <a:t>03 / 11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739128"/>
            <a:ext cx="955547" cy="22860"/>
          </a:xfrm>
          <a:prstGeom prst="rect">
            <a:avLst/>
          </a:prstGeom>
          <a:solidFill>
            <a:srgbClr val="6DE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522476" y="6739128"/>
            <a:ext cx="955547" cy="22860"/>
          </a:xfrm>
          <a:prstGeom prst="rect">
            <a:avLst/>
          </a:prstGeom>
          <a:solidFill>
            <a:srgbClr val="6DE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42032" y="6739128"/>
            <a:ext cx="955547" cy="22860"/>
          </a:xfrm>
          <a:prstGeom prst="rect">
            <a:avLst/>
          </a:prstGeom>
          <a:solidFill>
            <a:srgbClr val="6DE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61587" y="6739128"/>
            <a:ext cx="955547" cy="22860"/>
          </a:xfrm>
          <a:prstGeom prst="rect">
            <a:avLst/>
          </a:prstGeom>
          <a:solidFill>
            <a:srgbClr val="344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81144" y="6739128"/>
            <a:ext cx="955547" cy="22860"/>
          </a:xfrm>
          <a:prstGeom prst="rect">
            <a:avLst/>
          </a:prstGeom>
          <a:solidFill>
            <a:srgbClr val="344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00700" y="6739128"/>
            <a:ext cx="955547" cy="22860"/>
          </a:xfrm>
          <a:prstGeom prst="rect">
            <a:avLst/>
          </a:prstGeom>
          <a:solidFill>
            <a:srgbClr val="344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20255" y="6739128"/>
            <a:ext cx="955547" cy="22860"/>
          </a:xfrm>
          <a:prstGeom prst="rect">
            <a:avLst/>
          </a:prstGeom>
          <a:solidFill>
            <a:srgbClr val="344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639812" y="6739128"/>
            <a:ext cx="955547" cy="22860"/>
          </a:xfrm>
          <a:prstGeom prst="rect">
            <a:avLst/>
          </a:prstGeom>
          <a:solidFill>
            <a:srgbClr val="344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659368" y="6739128"/>
            <a:ext cx="955547" cy="22860"/>
          </a:xfrm>
          <a:prstGeom prst="rect">
            <a:avLst/>
          </a:prstGeom>
          <a:solidFill>
            <a:srgbClr val="344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678924" y="6739128"/>
            <a:ext cx="955547" cy="22860"/>
          </a:xfrm>
          <a:prstGeom prst="rect">
            <a:avLst/>
          </a:prstGeom>
          <a:solidFill>
            <a:srgbClr val="344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698480" y="6739128"/>
            <a:ext cx="955547" cy="22860"/>
          </a:xfrm>
          <a:prstGeom prst="rect">
            <a:avLst/>
          </a:prstGeom>
          <a:solidFill>
            <a:srgbClr val="344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920" y="1828800"/>
            <a:ext cx="2514600" cy="438912"/>
          </a:xfrm>
          <a:prstGeom prst="roundRect">
            <a:avLst>
              <a:gd name="adj" fmla="val 12000"/>
            </a:avLst>
          </a:prstGeom>
          <a:solidFill>
            <a:srgbClr val="142137"/>
          </a:solidFill>
          <a:ln w="15875">
            <a:solidFill>
              <a:srgbClr val="B9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ody-text-18"/>
          <p:cNvSpPr txBox="1"/>
          <p:nvPr/>
        </p:nvSpPr>
        <p:spPr>
          <a:xfrm>
            <a:off x="585216" y="1837943"/>
            <a:ext cx="235000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B9A3FF"/>
                </a:solidFill>
                <a:latin typeface="Arial"/>
              </a:defRPr>
            </a:pPr>
            <a:r>
              <a:t>AGENTIC LAYER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0" y="1828800"/>
            <a:ext cx="4800600" cy="438912"/>
          </a:xfrm>
          <a:prstGeom prst="roundRect">
            <a:avLst>
              <a:gd name="adj" fmla="val 12000"/>
            </a:avLst>
          </a:prstGeom>
          <a:solidFill>
            <a:srgbClr val="142137"/>
          </a:solidFill>
          <a:ln w="15875">
            <a:solidFill>
              <a:srgbClr val="6DE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ody-text-20"/>
          <p:cNvSpPr txBox="1"/>
          <p:nvPr/>
        </p:nvSpPr>
        <p:spPr>
          <a:xfrm>
            <a:off x="3282696" y="1837943"/>
            <a:ext cx="463600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6DE5C1"/>
                </a:solidFill>
                <a:latin typeface="Arial"/>
              </a:defRPr>
            </a:pPr>
            <a:r>
              <a:t>DETERMINISTIC CODE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2514600"/>
            <a:ext cx="2286000" cy="685800"/>
          </a:xfrm>
          <a:prstGeom prst="roundRect">
            <a:avLst>
              <a:gd name="adj" fmla="val 12000"/>
            </a:avLst>
          </a:prstGeom>
          <a:solidFill>
            <a:srgbClr val="142137"/>
          </a:solidFill>
          <a:ln w="15875">
            <a:solidFill>
              <a:srgbClr val="B9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ody-text-22"/>
          <p:cNvSpPr txBox="1"/>
          <p:nvPr/>
        </p:nvSpPr>
        <p:spPr>
          <a:xfrm>
            <a:off x="566928" y="2532888"/>
            <a:ext cx="2157984" cy="6492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B9A3FF"/>
                </a:solidFill>
                <a:latin typeface="Arial"/>
              </a:defRPr>
            </a:pPr>
            <a:r>
              <a:t>Research Agent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675887"/>
            <a:ext cx="2286000" cy="685800"/>
          </a:xfrm>
          <a:prstGeom prst="roundRect">
            <a:avLst>
              <a:gd name="adj" fmla="val 12000"/>
            </a:avLst>
          </a:prstGeom>
          <a:solidFill>
            <a:srgbClr val="142137"/>
          </a:solidFill>
          <a:ln w="15875">
            <a:solidFill>
              <a:srgbClr val="B9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body-text-24"/>
          <p:cNvSpPr txBox="1"/>
          <p:nvPr/>
        </p:nvSpPr>
        <p:spPr>
          <a:xfrm>
            <a:off x="566928" y="3694175"/>
            <a:ext cx="2157984" cy="6492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B9A3FF"/>
                </a:solidFill>
                <a:latin typeface="Arial"/>
              </a:defRPr>
            </a:pPr>
            <a:r>
              <a:t>Hypothesis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645920" y="3227832"/>
            <a:ext cx="0" cy="411480"/>
          </a:xfrm>
          <a:prstGeom prst="line">
            <a:avLst/>
          </a:prstGeom>
          <a:ln w="21590">
            <a:solidFill>
              <a:srgbClr val="B9A3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798064" y="4014215"/>
            <a:ext cx="201168" cy="0"/>
          </a:xfrm>
          <a:prstGeom prst="line">
            <a:avLst/>
          </a:prstGeom>
          <a:ln w="21590">
            <a:solidFill>
              <a:srgbClr val="B9A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2999232" y="2862072"/>
            <a:ext cx="0" cy="1152143"/>
          </a:xfrm>
          <a:prstGeom prst="line">
            <a:avLst/>
          </a:prstGeom>
          <a:ln w="21590">
            <a:solidFill>
              <a:srgbClr val="B9A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999232" y="2862072"/>
            <a:ext cx="192024" cy="0"/>
          </a:xfrm>
          <a:prstGeom prst="line">
            <a:avLst/>
          </a:prstGeom>
          <a:ln w="21590">
            <a:solidFill>
              <a:srgbClr val="B9A3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3200400" y="2514600"/>
            <a:ext cx="1993392" cy="685800"/>
          </a:xfrm>
          <a:prstGeom prst="roundRect">
            <a:avLst>
              <a:gd name="adj" fmla="val 12000"/>
            </a:avLst>
          </a:prstGeom>
          <a:solidFill>
            <a:srgbClr val="142137"/>
          </a:solidFill>
          <a:ln w="15875">
            <a:solidFill>
              <a:srgbClr val="6DE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body-text-30"/>
          <p:cNvSpPr txBox="1"/>
          <p:nvPr/>
        </p:nvSpPr>
        <p:spPr>
          <a:xfrm>
            <a:off x="3264408" y="2532888"/>
            <a:ext cx="1865376" cy="6492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6DE5C1"/>
                </a:solidFill>
                <a:latin typeface="Arial"/>
              </a:defRPr>
            </a:pPr>
            <a:r>
              <a:t>Experiment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212080" y="2862072"/>
            <a:ext cx="118872" cy="0"/>
          </a:xfrm>
          <a:prstGeom prst="line">
            <a:avLst/>
          </a:prstGeom>
          <a:ln w="21590">
            <a:solidFill>
              <a:srgbClr val="6DE5C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5349240" y="2514600"/>
            <a:ext cx="1993392" cy="685800"/>
          </a:xfrm>
          <a:prstGeom prst="roundRect">
            <a:avLst>
              <a:gd name="adj" fmla="val 12000"/>
            </a:avLst>
          </a:prstGeom>
          <a:solidFill>
            <a:srgbClr val="142137"/>
          </a:solidFill>
          <a:ln w="15875">
            <a:solidFill>
              <a:srgbClr val="6DE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body-text-33"/>
          <p:cNvSpPr txBox="1"/>
          <p:nvPr/>
        </p:nvSpPr>
        <p:spPr>
          <a:xfrm>
            <a:off x="5413248" y="2532888"/>
            <a:ext cx="1865376" cy="6492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6DE5C1"/>
                </a:solidFill>
                <a:latin typeface="Arial"/>
              </a:defRPr>
            </a:pPr>
            <a:r>
              <a:t>Backtest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360920" y="2862072"/>
            <a:ext cx="118872" cy="0"/>
          </a:xfrm>
          <a:prstGeom prst="line">
            <a:avLst/>
          </a:prstGeom>
          <a:ln w="21590">
            <a:solidFill>
              <a:srgbClr val="6DE5C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7498079" y="2514600"/>
            <a:ext cx="1993392" cy="685800"/>
          </a:xfrm>
          <a:prstGeom prst="roundRect">
            <a:avLst>
              <a:gd name="adj" fmla="val 12000"/>
            </a:avLst>
          </a:prstGeom>
          <a:solidFill>
            <a:srgbClr val="142137"/>
          </a:solidFill>
          <a:ln w="15875">
            <a:solidFill>
              <a:srgbClr val="6DE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body-text-36"/>
          <p:cNvSpPr txBox="1"/>
          <p:nvPr/>
        </p:nvSpPr>
        <p:spPr>
          <a:xfrm>
            <a:off x="7562088" y="2532888"/>
            <a:ext cx="1865376" cy="6492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6DE5C1"/>
                </a:solidFill>
                <a:latin typeface="Arial"/>
              </a:defRPr>
            </a:pPr>
            <a:r>
              <a:t>Falsification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509759" y="2862072"/>
            <a:ext cx="118873" cy="0"/>
          </a:xfrm>
          <a:prstGeom prst="line">
            <a:avLst/>
          </a:prstGeom>
          <a:ln w="21590">
            <a:solidFill>
              <a:srgbClr val="6DE5C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646920" y="2514600"/>
            <a:ext cx="1993392" cy="685800"/>
          </a:xfrm>
          <a:prstGeom prst="roundRect">
            <a:avLst>
              <a:gd name="adj" fmla="val 12000"/>
            </a:avLst>
          </a:prstGeom>
          <a:solidFill>
            <a:srgbClr val="142137"/>
          </a:solidFill>
          <a:ln w="15875">
            <a:solidFill>
              <a:srgbClr val="6DE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body-text-39"/>
          <p:cNvSpPr txBox="1"/>
          <p:nvPr/>
        </p:nvSpPr>
        <p:spPr>
          <a:xfrm>
            <a:off x="9710928" y="2532888"/>
            <a:ext cx="1865376" cy="6492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6DE5C1"/>
                </a:solidFill>
                <a:latin typeface="Arial"/>
              </a:defRPr>
            </a:pPr>
            <a:r>
              <a:t>Tournament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10643616" y="3227832"/>
            <a:ext cx="0" cy="630936"/>
          </a:xfrm>
          <a:prstGeom prst="line">
            <a:avLst/>
          </a:prstGeom>
          <a:ln w="21590">
            <a:solidFill>
              <a:srgbClr val="6DE5C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9646920" y="3886200"/>
            <a:ext cx="1993392" cy="685800"/>
          </a:xfrm>
          <a:prstGeom prst="roundRect">
            <a:avLst>
              <a:gd name="adj" fmla="val 12000"/>
            </a:avLst>
          </a:prstGeom>
          <a:solidFill>
            <a:srgbClr val="142137"/>
          </a:solidFill>
          <a:ln w="15875">
            <a:solidFill>
              <a:srgbClr val="6DE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body-text-42"/>
          <p:cNvSpPr txBox="1"/>
          <p:nvPr/>
        </p:nvSpPr>
        <p:spPr>
          <a:xfrm>
            <a:off x="9710928" y="3904487"/>
            <a:ext cx="1865376" cy="6492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6DE5C1"/>
                </a:solidFill>
                <a:latin typeface="Arial"/>
              </a:defRPr>
            </a:pPr>
            <a:r>
              <a:t>Portfolio</a:t>
            </a:r>
          </a:p>
        </p:txBody>
      </p:sp>
      <p:cxnSp>
        <p:nvCxnSpPr>
          <p:cNvPr id="43" name="Connector 42"/>
          <p:cNvCxnSpPr/>
          <p:nvPr/>
        </p:nvCxnSpPr>
        <p:spPr>
          <a:xfrm flipH="1">
            <a:off x="9500616" y="4233672"/>
            <a:ext cx="137160" cy="0"/>
          </a:xfrm>
          <a:prstGeom prst="line">
            <a:avLst/>
          </a:prstGeom>
          <a:ln w="21590">
            <a:solidFill>
              <a:srgbClr val="6DE5C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7498079" y="3886200"/>
            <a:ext cx="1993392" cy="685800"/>
          </a:xfrm>
          <a:prstGeom prst="roundRect">
            <a:avLst>
              <a:gd name="adj" fmla="val 12000"/>
            </a:avLst>
          </a:prstGeom>
          <a:solidFill>
            <a:srgbClr val="142137"/>
          </a:solidFill>
          <a:ln w="15875">
            <a:solidFill>
              <a:srgbClr val="6DE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body-text-45"/>
          <p:cNvSpPr txBox="1"/>
          <p:nvPr/>
        </p:nvSpPr>
        <p:spPr>
          <a:xfrm>
            <a:off x="7562088" y="3904487"/>
            <a:ext cx="1865376" cy="6492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6DE5C1"/>
                </a:solidFill>
                <a:latin typeface="Arial"/>
              </a:defRPr>
            </a:pPr>
            <a:r>
              <a:t>RiskGate</a:t>
            </a:r>
          </a:p>
        </p:txBody>
      </p:sp>
      <p:cxnSp>
        <p:nvCxnSpPr>
          <p:cNvPr id="46" name="Connector 45"/>
          <p:cNvCxnSpPr/>
          <p:nvPr/>
        </p:nvCxnSpPr>
        <p:spPr>
          <a:xfrm flipH="1">
            <a:off x="7351775" y="4233672"/>
            <a:ext cx="137161" cy="0"/>
          </a:xfrm>
          <a:prstGeom prst="line">
            <a:avLst/>
          </a:prstGeom>
          <a:ln w="21590">
            <a:solidFill>
              <a:srgbClr val="6DE5C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5349240" y="3886200"/>
            <a:ext cx="1993392" cy="685800"/>
          </a:xfrm>
          <a:prstGeom prst="roundRect">
            <a:avLst>
              <a:gd name="adj" fmla="val 12000"/>
            </a:avLst>
          </a:prstGeom>
          <a:solidFill>
            <a:srgbClr val="142137"/>
          </a:solidFill>
          <a:ln w="15875">
            <a:solidFill>
              <a:srgbClr val="6DE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body-text-48"/>
          <p:cNvSpPr txBox="1"/>
          <p:nvPr/>
        </p:nvSpPr>
        <p:spPr>
          <a:xfrm>
            <a:off x="5413248" y="3904487"/>
            <a:ext cx="1865376" cy="6492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6DE5C1"/>
                </a:solidFill>
                <a:latin typeface="Arial"/>
              </a:defRPr>
            </a:pPr>
            <a:r>
              <a:t>Execution</a:t>
            </a:r>
          </a:p>
        </p:txBody>
      </p:sp>
      <p:cxnSp>
        <p:nvCxnSpPr>
          <p:cNvPr id="49" name="Connector 48"/>
          <p:cNvCxnSpPr/>
          <p:nvPr/>
        </p:nvCxnSpPr>
        <p:spPr>
          <a:xfrm flipH="1">
            <a:off x="5202936" y="4233672"/>
            <a:ext cx="137160" cy="0"/>
          </a:xfrm>
          <a:prstGeom prst="line">
            <a:avLst/>
          </a:prstGeom>
          <a:ln w="21590">
            <a:solidFill>
              <a:srgbClr val="B1C0D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3200400" y="3886200"/>
            <a:ext cx="1993392" cy="685800"/>
          </a:xfrm>
          <a:prstGeom prst="roundRect">
            <a:avLst>
              <a:gd name="adj" fmla="val 12000"/>
            </a:avLst>
          </a:prstGeom>
          <a:solidFill>
            <a:srgbClr val="142137"/>
          </a:solidFill>
          <a:ln w="15875">
            <a:solidFill>
              <a:srgbClr val="B1C0D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body-text-51"/>
          <p:cNvSpPr txBox="1"/>
          <p:nvPr/>
        </p:nvSpPr>
        <p:spPr>
          <a:xfrm>
            <a:off x="3264408" y="3904487"/>
            <a:ext cx="1865376" cy="6492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B1C0D4"/>
                </a:solidFill>
                <a:latin typeface="Arial"/>
              </a:defRPr>
            </a:pPr>
            <a:r>
              <a:t>Robinhood</a:t>
            </a:r>
          </a:p>
        </p:txBody>
      </p:sp>
      <p:sp>
        <p:nvSpPr>
          <p:cNvPr id="52" name="metadata-text-52"/>
          <p:cNvSpPr txBox="1"/>
          <p:nvPr/>
        </p:nvSpPr>
        <p:spPr>
          <a:xfrm>
            <a:off x="3200400" y="4672584"/>
            <a:ext cx="199339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B1C0D4"/>
                </a:solidFill>
                <a:latin typeface="Arial"/>
              </a:defRPr>
            </a:pPr>
            <a:r>
              <a:t>FUTURE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02920" y="5285232"/>
            <a:ext cx="11137392" cy="758952"/>
          </a:xfrm>
          <a:prstGeom prst="roundRect">
            <a:avLst>
              <a:gd name="adj" fmla="val 12000"/>
            </a:avLst>
          </a:prstGeom>
          <a:solidFill>
            <a:srgbClr val="182435"/>
          </a:solidFill>
          <a:ln w="15875">
            <a:solidFill>
              <a:srgbClr val="344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body-text-54"/>
          <p:cNvSpPr txBox="1"/>
          <p:nvPr/>
        </p:nvSpPr>
        <p:spPr>
          <a:xfrm>
            <a:off x="731520" y="5413248"/>
            <a:ext cx="329184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90C7F6"/>
                </a:solidFill>
                <a:latin typeface="Arial"/>
              </a:defRPr>
            </a:pPr>
            <a:r>
              <a:t>EVIDENCE / PROVENANCE</a:t>
            </a:r>
          </a:p>
        </p:txBody>
      </p:sp>
      <p:sp>
        <p:nvSpPr>
          <p:cNvPr id="55" name="body-text-55"/>
          <p:cNvSpPr txBox="1"/>
          <p:nvPr/>
        </p:nvSpPr>
        <p:spPr>
          <a:xfrm>
            <a:off x="4160520" y="5431536"/>
            <a:ext cx="722376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B1C0D4"/>
                </a:solidFill>
                <a:latin typeface="Arial"/>
              </a:defRPr>
            </a:pPr>
            <a:r>
              <a:t>Hypotheses · inputs · results · risk decisions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1645920" y="4398264"/>
            <a:ext cx="0" cy="859536"/>
          </a:xfrm>
          <a:prstGeom prst="line">
            <a:avLst/>
          </a:prstGeom>
          <a:ln w="21590">
            <a:solidFill>
              <a:srgbClr val="90C7F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7159752" y="3227832"/>
            <a:ext cx="256031" cy="173736"/>
          </a:xfrm>
          <a:prstGeom prst="line">
            <a:avLst/>
          </a:prstGeom>
          <a:ln w="21590">
            <a:solidFill>
              <a:srgbClr val="90C7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7415783" y="3401568"/>
            <a:ext cx="0" cy="1856232"/>
          </a:xfrm>
          <a:prstGeom prst="line">
            <a:avLst/>
          </a:prstGeom>
          <a:ln w="21590">
            <a:solidFill>
              <a:srgbClr val="90C7F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8494776" y="4599432"/>
            <a:ext cx="0" cy="658368"/>
          </a:xfrm>
          <a:prstGeom prst="line">
            <a:avLst/>
          </a:prstGeom>
          <a:ln w="21590">
            <a:solidFill>
              <a:srgbClr val="90C7F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metadata-text-60"/>
          <p:cNvSpPr txBox="1"/>
          <p:nvPr/>
        </p:nvSpPr>
        <p:spPr>
          <a:xfrm>
            <a:off x="502920" y="6144768"/>
            <a:ext cx="1115568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1C0D4"/>
                </a:solidFill>
                <a:latin typeface="Arial"/>
              </a:defRPr>
            </a:pPr>
            <a:r>
              <a:t>Target architecture. Scripted agent today; demo receipts ≠ Phase 0 ledger.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etadata-text-2"/>
          <p:cNvSpPr txBox="1"/>
          <p:nvPr/>
        </p:nvSpPr>
        <p:spPr>
          <a:xfrm>
            <a:off x="502920" y="2468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DE5C1"/>
                </a:solidFill>
                <a:latin typeface="Arial"/>
              </a:defRPr>
            </a:pPr>
            <a:r>
              <a:t>AQL / SCIENTIFIC CONTROLS</a:t>
            </a:r>
          </a:p>
        </p:txBody>
      </p:sp>
      <p:sp>
        <p:nvSpPr>
          <p:cNvPr id="3" name="body-text-3"/>
          <p:cNvSpPr txBox="1"/>
          <p:nvPr/>
        </p:nvSpPr>
        <p:spPr>
          <a:xfrm>
            <a:off x="502920" y="731520"/>
            <a:ext cx="11183112" cy="1024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F4F7FC"/>
                </a:solidFill>
                <a:latin typeface="Arial"/>
              </a:defRPr>
            </a:pPr>
            <a:r>
              <a:t>The agent has to prove itself wrong</a:t>
            </a:r>
          </a:p>
        </p:txBody>
      </p:sp>
      <p:sp>
        <p:nvSpPr>
          <p:cNvPr id="4" name="metadata-text-4"/>
          <p:cNvSpPr txBox="1"/>
          <p:nvPr/>
        </p:nvSpPr>
        <p:spPr>
          <a:xfrm>
            <a:off x="502920" y="6464808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1C0D4"/>
                </a:solidFill>
                <a:latin typeface="Arial"/>
              </a:defRPr>
            </a:pPr>
            <a:r>
              <a:t>AGENTIC QUANT LAB</a:t>
            </a:r>
          </a:p>
        </p:txBody>
      </p:sp>
      <p:sp>
        <p:nvSpPr>
          <p:cNvPr id="5" name="metadata-text-5"/>
          <p:cNvSpPr txBox="1"/>
          <p:nvPr/>
        </p:nvSpPr>
        <p:spPr>
          <a:xfrm>
            <a:off x="10698480" y="6446520"/>
            <a:ext cx="98755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1C0D4"/>
                </a:solidFill>
                <a:latin typeface="Arial"/>
              </a:defRPr>
            </a:pPr>
            <a:r>
              <a:t>04 / 11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739128"/>
            <a:ext cx="955547" cy="22860"/>
          </a:xfrm>
          <a:prstGeom prst="rect">
            <a:avLst/>
          </a:prstGeom>
          <a:solidFill>
            <a:srgbClr val="6DE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522476" y="6739128"/>
            <a:ext cx="955547" cy="22860"/>
          </a:xfrm>
          <a:prstGeom prst="rect">
            <a:avLst/>
          </a:prstGeom>
          <a:solidFill>
            <a:srgbClr val="6DE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42032" y="6739128"/>
            <a:ext cx="955547" cy="22860"/>
          </a:xfrm>
          <a:prstGeom prst="rect">
            <a:avLst/>
          </a:prstGeom>
          <a:solidFill>
            <a:srgbClr val="6DE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61587" y="6739128"/>
            <a:ext cx="955547" cy="22860"/>
          </a:xfrm>
          <a:prstGeom prst="rect">
            <a:avLst/>
          </a:prstGeom>
          <a:solidFill>
            <a:srgbClr val="6DE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81144" y="6739128"/>
            <a:ext cx="955547" cy="22860"/>
          </a:xfrm>
          <a:prstGeom prst="rect">
            <a:avLst/>
          </a:prstGeom>
          <a:solidFill>
            <a:srgbClr val="344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00700" y="6739128"/>
            <a:ext cx="955547" cy="22860"/>
          </a:xfrm>
          <a:prstGeom prst="rect">
            <a:avLst/>
          </a:prstGeom>
          <a:solidFill>
            <a:srgbClr val="344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20255" y="6739128"/>
            <a:ext cx="955547" cy="22860"/>
          </a:xfrm>
          <a:prstGeom prst="rect">
            <a:avLst/>
          </a:prstGeom>
          <a:solidFill>
            <a:srgbClr val="344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639812" y="6739128"/>
            <a:ext cx="955547" cy="22860"/>
          </a:xfrm>
          <a:prstGeom prst="rect">
            <a:avLst/>
          </a:prstGeom>
          <a:solidFill>
            <a:srgbClr val="344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659368" y="6739128"/>
            <a:ext cx="955547" cy="22860"/>
          </a:xfrm>
          <a:prstGeom prst="rect">
            <a:avLst/>
          </a:prstGeom>
          <a:solidFill>
            <a:srgbClr val="344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678924" y="6739128"/>
            <a:ext cx="955547" cy="22860"/>
          </a:xfrm>
          <a:prstGeom prst="rect">
            <a:avLst/>
          </a:prstGeom>
          <a:solidFill>
            <a:srgbClr val="344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698480" y="6739128"/>
            <a:ext cx="955547" cy="22860"/>
          </a:xfrm>
          <a:prstGeom prst="rect">
            <a:avLst/>
          </a:prstGeom>
          <a:solidFill>
            <a:srgbClr val="344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920" y="1956816"/>
            <a:ext cx="3593592" cy="2788920"/>
          </a:xfrm>
          <a:prstGeom prst="roundRect">
            <a:avLst>
              <a:gd name="adj" fmla="val 12000"/>
            </a:avLst>
          </a:prstGeom>
          <a:solidFill>
            <a:srgbClr val="142137"/>
          </a:solidFill>
          <a:ln w="15875">
            <a:solidFill>
              <a:srgbClr val="344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ody-text-18"/>
          <p:cNvSpPr txBox="1"/>
          <p:nvPr/>
        </p:nvSpPr>
        <p:spPr>
          <a:xfrm>
            <a:off x="722376" y="2185416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90C7F6"/>
                </a:solidFill>
                <a:latin typeface="Arial"/>
              </a:defRPr>
            </a:pPr>
            <a:r>
              <a:t>NULL CONTROL</a:t>
            </a:r>
          </a:p>
        </p:txBody>
      </p:sp>
      <p:sp>
        <p:nvSpPr>
          <p:cNvPr id="19" name="body-text-19"/>
          <p:cNvSpPr txBox="1"/>
          <p:nvPr/>
        </p:nvSpPr>
        <p:spPr>
          <a:xfrm>
            <a:off x="722376" y="2734056"/>
            <a:ext cx="3154680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5600" b="1">
                <a:solidFill>
                  <a:srgbClr val="90C7F6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20" name="body-text-20"/>
          <p:cNvSpPr txBox="1"/>
          <p:nvPr/>
        </p:nvSpPr>
        <p:spPr>
          <a:xfrm>
            <a:off x="722376" y="3666744"/>
            <a:ext cx="3154680" cy="7955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F4F7FC"/>
                </a:solidFill>
                <a:latin typeface="Arial"/>
              </a:defRPr>
            </a:pPr>
            <a:r>
              <a:t>No edge?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F4F7FC"/>
                </a:solidFill>
                <a:latin typeface="Arial"/>
              </a:defRPr>
            </a:pPr>
            <a:r>
              <a:t>No alpha.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1956816"/>
            <a:ext cx="3593592" cy="2788920"/>
          </a:xfrm>
          <a:prstGeom prst="roundRect">
            <a:avLst>
              <a:gd name="adj" fmla="val 12000"/>
            </a:avLst>
          </a:prstGeom>
          <a:solidFill>
            <a:srgbClr val="142137"/>
          </a:solidFill>
          <a:ln w="15875">
            <a:solidFill>
              <a:srgbClr val="344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ody-text-22"/>
          <p:cNvSpPr txBox="1"/>
          <p:nvPr/>
        </p:nvSpPr>
        <p:spPr>
          <a:xfrm>
            <a:off x="4517136" y="2185416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6DE5C1"/>
                </a:solidFill>
                <a:latin typeface="Arial"/>
              </a:defRPr>
            </a:pPr>
            <a:r>
              <a:t>PLANTED SIGNAL</a:t>
            </a:r>
          </a:p>
        </p:txBody>
      </p:sp>
      <p:sp>
        <p:nvSpPr>
          <p:cNvPr id="23" name="body-text-23"/>
          <p:cNvSpPr txBox="1"/>
          <p:nvPr/>
        </p:nvSpPr>
        <p:spPr>
          <a:xfrm>
            <a:off x="4517136" y="2734056"/>
            <a:ext cx="3154680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5600" b="1">
                <a:solidFill>
                  <a:srgbClr val="6DE5C1"/>
                </a:solidFill>
                <a:latin typeface="Arial"/>
              </a:defRPr>
            </a:pPr>
            <a:r>
              <a:t>+</a:t>
            </a:r>
          </a:p>
        </p:txBody>
      </p:sp>
      <p:sp>
        <p:nvSpPr>
          <p:cNvPr id="24" name="body-text-24"/>
          <p:cNvSpPr txBox="1"/>
          <p:nvPr/>
        </p:nvSpPr>
        <p:spPr>
          <a:xfrm>
            <a:off x="4517136" y="3666744"/>
            <a:ext cx="3154680" cy="7955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F4F7FC"/>
                </a:solidFill>
                <a:latin typeface="Arial"/>
              </a:defRPr>
            </a:pPr>
            <a:r>
              <a:t>Known edge?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F4F7FC"/>
                </a:solidFill>
                <a:latin typeface="Arial"/>
              </a:defRPr>
            </a:pPr>
            <a:r>
              <a:t>Recover it.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92440" y="1956816"/>
            <a:ext cx="3593592" cy="2788920"/>
          </a:xfrm>
          <a:prstGeom prst="roundRect">
            <a:avLst>
              <a:gd name="adj" fmla="val 12000"/>
            </a:avLst>
          </a:prstGeom>
          <a:solidFill>
            <a:srgbClr val="142137"/>
          </a:solidFill>
          <a:ln w="15875">
            <a:solidFill>
              <a:srgbClr val="344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ody-text-26"/>
          <p:cNvSpPr txBox="1"/>
          <p:nvPr/>
        </p:nvSpPr>
        <p:spPr>
          <a:xfrm>
            <a:off x="8311896" y="2185416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5C978"/>
                </a:solidFill>
                <a:latin typeface="Arial"/>
              </a:defRPr>
            </a:pPr>
            <a:r>
              <a:t>LEAKAGE TRAP</a:t>
            </a:r>
          </a:p>
        </p:txBody>
      </p:sp>
      <p:sp>
        <p:nvSpPr>
          <p:cNvPr id="27" name="body-text-27"/>
          <p:cNvSpPr txBox="1"/>
          <p:nvPr/>
        </p:nvSpPr>
        <p:spPr>
          <a:xfrm>
            <a:off x="8311896" y="2734056"/>
            <a:ext cx="3154680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5600" b="1">
                <a:solidFill>
                  <a:srgbClr val="F5C978"/>
                </a:solidFill>
                <a:latin typeface="Arial"/>
              </a:defRPr>
            </a:pPr>
            <a:r>
              <a:t>t+1</a:t>
            </a:r>
          </a:p>
        </p:txBody>
      </p:sp>
      <p:sp>
        <p:nvSpPr>
          <p:cNvPr id="28" name="body-text-28"/>
          <p:cNvSpPr txBox="1"/>
          <p:nvPr/>
        </p:nvSpPr>
        <p:spPr>
          <a:xfrm>
            <a:off x="8311896" y="3666744"/>
            <a:ext cx="3154680" cy="7955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F4F7FC"/>
                </a:solidFill>
                <a:latin typeface="Arial"/>
              </a:defRPr>
            </a:pPr>
            <a:r>
              <a:t>Future data?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F4F7FC"/>
                </a:solidFill>
                <a:latin typeface="Arial"/>
              </a:defRPr>
            </a:pPr>
            <a:r>
              <a:t>Reject it.</a:t>
            </a:r>
          </a:p>
        </p:txBody>
      </p:sp>
      <p:sp>
        <p:nvSpPr>
          <p:cNvPr id="29" name="body-text-29"/>
          <p:cNvSpPr txBox="1"/>
          <p:nvPr/>
        </p:nvSpPr>
        <p:spPr>
          <a:xfrm>
            <a:off x="502920" y="4937760"/>
            <a:ext cx="267919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B1C0D4"/>
                </a:solidFill>
                <a:latin typeface="Arial"/>
              </a:defRPr>
            </a:pPr>
            <a:r>
              <a:t>Costs</a:t>
            </a:r>
          </a:p>
        </p:txBody>
      </p:sp>
      <p:sp>
        <p:nvSpPr>
          <p:cNvPr id="30" name="body-text-30"/>
          <p:cNvSpPr txBox="1"/>
          <p:nvPr/>
        </p:nvSpPr>
        <p:spPr>
          <a:xfrm>
            <a:off x="3337560" y="4937760"/>
            <a:ext cx="267919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B1C0D4"/>
                </a:solidFill>
                <a:latin typeface="Arial"/>
              </a:defRPr>
            </a:pPr>
            <a:r>
              <a:t>Frozen specifications</a:t>
            </a:r>
          </a:p>
        </p:txBody>
      </p:sp>
      <p:sp>
        <p:nvSpPr>
          <p:cNvPr id="31" name="body-text-31"/>
          <p:cNvSpPr txBox="1"/>
          <p:nvPr/>
        </p:nvSpPr>
        <p:spPr>
          <a:xfrm>
            <a:off x="6172200" y="4937760"/>
            <a:ext cx="267919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B1C0D4"/>
                </a:solidFill>
                <a:latin typeface="Arial"/>
              </a:defRPr>
            </a:pPr>
            <a:r>
              <a:t>Regime tests</a:t>
            </a:r>
          </a:p>
        </p:txBody>
      </p:sp>
      <p:sp>
        <p:nvSpPr>
          <p:cNvPr id="32" name="body-text-32"/>
          <p:cNvSpPr txBox="1"/>
          <p:nvPr/>
        </p:nvSpPr>
        <p:spPr>
          <a:xfrm>
            <a:off x="9006840" y="4937760"/>
            <a:ext cx="267919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B1C0D4"/>
                </a:solidFill>
                <a:latin typeface="Arial"/>
              </a:defRPr>
            </a:pPr>
            <a:r>
              <a:t>Data provenance</a:t>
            </a:r>
          </a:p>
        </p:txBody>
      </p:sp>
      <p:sp>
        <p:nvSpPr>
          <p:cNvPr id="33" name="body-text-33"/>
          <p:cNvSpPr txBox="1"/>
          <p:nvPr/>
        </p:nvSpPr>
        <p:spPr>
          <a:xfrm>
            <a:off x="502920" y="5632704"/>
            <a:ext cx="111831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6DE5C1"/>
                </a:solidFill>
                <a:latin typeface="Arial"/>
              </a:defRPr>
            </a:pPr>
            <a:r>
              <a:t>Reject a failing rule. Don't optimize a rescue.</a:t>
            </a:r>
          </a:p>
        </p:txBody>
      </p:sp>
      <p:sp>
        <p:nvSpPr>
          <p:cNvPr id="34" name="metadata-text-34"/>
          <p:cNvSpPr txBox="1"/>
          <p:nvPr/>
        </p:nvSpPr>
        <p:spPr>
          <a:xfrm>
            <a:off x="502920" y="6199632"/>
            <a:ext cx="11183112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1C0D4"/>
                </a:solidFill>
                <a:latin typeface="Arial"/>
              </a:defRPr>
            </a:pPr>
            <a:r>
              <a:t>Research requirements, not a claim that the demo validates market alpha.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etadata-text-2"/>
          <p:cNvSpPr txBox="1"/>
          <p:nvPr/>
        </p:nvSpPr>
        <p:spPr>
          <a:xfrm>
            <a:off x="502920" y="2468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DE5C1"/>
                </a:solidFill>
                <a:latin typeface="Arial"/>
              </a:defRPr>
            </a:pPr>
            <a:r>
              <a:t>AQL / REAL RESEARCH</a:t>
            </a:r>
          </a:p>
        </p:txBody>
      </p:sp>
      <p:sp>
        <p:nvSpPr>
          <p:cNvPr id="3" name="body-text-3"/>
          <p:cNvSpPr txBox="1"/>
          <p:nvPr/>
        </p:nvSpPr>
        <p:spPr>
          <a:xfrm>
            <a:off x="502920" y="731520"/>
            <a:ext cx="11183112" cy="1024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F4F7FC"/>
                </a:solidFill>
                <a:latin typeface="Arial"/>
              </a:defRPr>
            </a:pPr>
            <a:r>
              <a:t>The system already says “no”</a:t>
            </a:r>
          </a:p>
        </p:txBody>
      </p:sp>
      <p:sp>
        <p:nvSpPr>
          <p:cNvPr id="4" name="metadata-text-4"/>
          <p:cNvSpPr txBox="1"/>
          <p:nvPr/>
        </p:nvSpPr>
        <p:spPr>
          <a:xfrm>
            <a:off x="502920" y="6464808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1C0D4"/>
                </a:solidFill>
                <a:latin typeface="Arial"/>
              </a:defRPr>
            </a:pPr>
            <a:r>
              <a:t>AGENTIC QUANT LAB</a:t>
            </a:r>
          </a:p>
        </p:txBody>
      </p:sp>
      <p:sp>
        <p:nvSpPr>
          <p:cNvPr id="5" name="metadata-text-5"/>
          <p:cNvSpPr txBox="1"/>
          <p:nvPr/>
        </p:nvSpPr>
        <p:spPr>
          <a:xfrm>
            <a:off x="10698480" y="6446520"/>
            <a:ext cx="98755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1C0D4"/>
                </a:solidFill>
                <a:latin typeface="Arial"/>
              </a:defRPr>
            </a:pPr>
            <a:r>
              <a:t>05 / 11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739128"/>
            <a:ext cx="955547" cy="22860"/>
          </a:xfrm>
          <a:prstGeom prst="rect">
            <a:avLst/>
          </a:prstGeom>
          <a:solidFill>
            <a:srgbClr val="6DE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522476" y="6739128"/>
            <a:ext cx="955547" cy="22860"/>
          </a:xfrm>
          <a:prstGeom prst="rect">
            <a:avLst/>
          </a:prstGeom>
          <a:solidFill>
            <a:srgbClr val="6DE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42032" y="6739128"/>
            <a:ext cx="955547" cy="22860"/>
          </a:xfrm>
          <a:prstGeom prst="rect">
            <a:avLst/>
          </a:prstGeom>
          <a:solidFill>
            <a:srgbClr val="6DE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61587" y="6739128"/>
            <a:ext cx="955547" cy="22860"/>
          </a:xfrm>
          <a:prstGeom prst="rect">
            <a:avLst/>
          </a:prstGeom>
          <a:solidFill>
            <a:srgbClr val="6DE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81144" y="6739128"/>
            <a:ext cx="955547" cy="22860"/>
          </a:xfrm>
          <a:prstGeom prst="rect">
            <a:avLst/>
          </a:prstGeom>
          <a:solidFill>
            <a:srgbClr val="6DE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00700" y="6739128"/>
            <a:ext cx="955547" cy="22860"/>
          </a:xfrm>
          <a:prstGeom prst="rect">
            <a:avLst/>
          </a:prstGeom>
          <a:solidFill>
            <a:srgbClr val="344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20255" y="6739128"/>
            <a:ext cx="955547" cy="22860"/>
          </a:xfrm>
          <a:prstGeom prst="rect">
            <a:avLst/>
          </a:prstGeom>
          <a:solidFill>
            <a:srgbClr val="344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639812" y="6739128"/>
            <a:ext cx="955547" cy="22860"/>
          </a:xfrm>
          <a:prstGeom prst="rect">
            <a:avLst/>
          </a:prstGeom>
          <a:solidFill>
            <a:srgbClr val="344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659368" y="6739128"/>
            <a:ext cx="955547" cy="22860"/>
          </a:xfrm>
          <a:prstGeom prst="rect">
            <a:avLst/>
          </a:prstGeom>
          <a:solidFill>
            <a:srgbClr val="344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678924" y="6739128"/>
            <a:ext cx="955547" cy="22860"/>
          </a:xfrm>
          <a:prstGeom prst="rect">
            <a:avLst/>
          </a:prstGeom>
          <a:solidFill>
            <a:srgbClr val="344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698480" y="6739128"/>
            <a:ext cx="955547" cy="22860"/>
          </a:xfrm>
          <a:prstGeom prst="rect">
            <a:avLst/>
          </a:prstGeom>
          <a:solidFill>
            <a:srgbClr val="344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metadata-text-17"/>
          <p:cNvSpPr txBox="1"/>
          <p:nvPr/>
        </p:nvSpPr>
        <p:spPr>
          <a:xfrm>
            <a:off x="9144000" y="246888"/>
            <a:ext cx="253288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5C978"/>
                </a:solidFill>
                <a:latin typeface="Arial"/>
              </a:defRPr>
            </a:pPr>
            <a:r>
              <a:t>REAL RESEARCH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1874519"/>
            <a:ext cx="11183112" cy="603504"/>
          </a:xfrm>
          <a:prstGeom prst="roundRect">
            <a:avLst>
              <a:gd name="adj" fmla="val 12000"/>
            </a:avLst>
          </a:prstGeom>
          <a:solidFill>
            <a:srgbClr val="14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1874519"/>
            <a:ext cx="50292" cy="603504"/>
          </a:xfrm>
          <a:prstGeom prst="rect">
            <a:avLst/>
          </a:prstGeom>
          <a:solidFill>
            <a:srgbClr val="F5C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ody-text-20"/>
          <p:cNvSpPr txBox="1"/>
          <p:nvPr/>
        </p:nvSpPr>
        <p:spPr>
          <a:xfrm>
            <a:off x="704088" y="1938527"/>
            <a:ext cx="3383280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4F7FC"/>
                </a:solidFill>
                <a:latin typeface="Arial"/>
              </a:defRPr>
            </a:pPr>
            <a:r>
              <a:t>ETF Trend</a:t>
            </a:r>
          </a:p>
        </p:txBody>
      </p:sp>
      <p:sp>
        <p:nvSpPr>
          <p:cNvPr id="21" name="body-text-21"/>
          <p:cNvSpPr txBox="1"/>
          <p:nvPr/>
        </p:nvSpPr>
        <p:spPr>
          <a:xfrm>
            <a:off x="4206240" y="1938527"/>
            <a:ext cx="2496312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5C978"/>
                </a:solidFill>
                <a:latin typeface="Arial"/>
              </a:defRPr>
            </a:pPr>
            <a:r>
              <a:t>RESEARCH MORE</a:t>
            </a:r>
          </a:p>
        </p:txBody>
      </p:sp>
      <p:sp>
        <p:nvSpPr>
          <p:cNvPr id="22" name="body-text-22"/>
          <p:cNvSpPr txBox="1"/>
          <p:nvPr/>
        </p:nvSpPr>
        <p:spPr>
          <a:xfrm>
            <a:off x="6784848" y="1929384"/>
            <a:ext cx="466344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B1C0D4"/>
                </a:solidFill>
                <a:latin typeface="Arial"/>
              </a:defRPr>
            </a:pPr>
            <a:r>
              <a:t>Weak vs static de-risking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2578608"/>
            <a:ext cx="11183112" cy="603504"/>
          </a:xfrm>
          <a:prstGeom prst="roundRect">
            <a:avLst>
              <a:gd name="adj" fmla="val 12000"/>
            </a:avLst>
          </a:prstGeom>
          <a:solidFill>
            <a:srgbClr val="14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2578608"/>
            <a:ext cx="50292" cy="603504"/>
          </a:xfrm>
          <a:prstGeom prst="rect">
            <a:avLst/>
          </a:prstGeom>
          <a:solidFill>
            <a:srgbClr val="90C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ody-text-25"/>
          <p:cNvSpPr txBox="1"/>
          <p:nvPr/>
        </p:nvSpPr>
        <p:spPr>
          <a:xfrm>
            <a:off x="704088" y="2642615"/>
            <a:ext cx="3383280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4F7FC"/>
                </a:solidFill>
                <a:latin typeface="Arial"/>
              </a:defRPr>
            </a:pPr>
            <a:r>
              <a:t>Stock Momentum</a:t>
            </a:r>
          </a:p>
        </p:txBody>
      </p:sp>
      <p:sp>
        <p:nvSpPr>
          <p:cNvPr id="26" name="body-text-26"/>
          <p:cNvSpPr txBox="1"/>
          <p:nvPr/>
        </p:nvSpPr>
        <p:spPr>
          <a:xfrm>
            <a:off x="4206240" y="2642615"/>
            <a:ext cx="2496312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90C7F6"/>
                </a:solidFill>
                <a:latin typeface="Arial"/>
              </a:defRPr>
            </a:pPr>
            <a:r>
              <a:t>DATA BLOCKED</a:t>
            </a:r>
          </a:p>
        </p:txBody>
      </p:sp>
      <p:sp>
        <p:nvSpPr>
          <p:cNvPr id="27" name="body-text-27"/>
          <p:cNvSpPr txBox="1"/>
          <p:nvPr/>
        </p:nvSpPr>
        <p:spPr>
          <a:xfrm>
            <a:off x="6784848" y="2633472"/>
            <a:ext cx="466344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B1C0D4"/>
                </a:solidFill>
                <a:latin typeface="Arial"/>
              </a:defRPr>
            </a:pPr>
            <a:r>
              <a:t>Universe / identity / delistings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3282696"/>
            <a:ext cx="11183112" cy="603504"/>
          </a:xfrm>
          <a:prstGeom prst="roundRect">
            <a:avLst>
              <a:gd name="adj" fmla="val 12000"/>
            </a:avLst>
          </a:prstGeom>
          <a:solidFill>
            <a:srgbClr val="14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2920" y="3282696"/>
            <a:ext cx="50292" cy="603504"/>
          </a:xfrm>
          <a:prstGeom prst="rect">
            <a:avLst/>
          </a:prstGeom>
          <a:solidFill>
            <a:srgbClr val="90C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body-text-30"/>
          <p:cNvSpPr txBox="1"/>
          <p:nvPr/>
        </p:nvSpPr>
        <p:spPr>
          <a:xfrm>
            <a:off x="704088" y="3346703"/>
            <a:ext cx="3383280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4F7FC"/>
                </a:solidFill>
                <a:latin typeface="Arial"/>
              </a:defRPr>
            </a:pPr>
            <a:r>
              <a:t>Momentum + Quality</a:t>
            </a:r>
          </a:p>
        </p:txBody>
      </p:sp>
      <p:sp>
        <p:nvSpPr>
          <p:cNvPr id="31" name="body-text-31"/>
          <p:cNvSpPr txBox="1"/>
          <p:nvPr/>
        </p:nvSpPr>
        <p:spPr>
          <a:xfrm>
            <a:off x="4206240" y="3346703"/>
            <a:ext cx="2496312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90C7F6"/>
                </a:solidFill>
                <a:latin typeface="Arial"/>
              </a:defRPr>
            </a:pPr>
            <a:r>
              <a:t>DATA BLOCKED</a:t>
            </a:r>
          </a:p>
        </p:txBody>
      </p:sp>
      <p:sp>
        <p:nvSpPr>
          <p:cNvPr id="32" name="body-text-32"/>
          <p:cNvSpPr txBox="1"/>
          <p:nvPr/>
        </p:nvSpPr>
        <p:spPr>
          <a:xfrm>
            <a:off x="6784848" y="3337560"/>
            <a:ext cx="466344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B1C0D4"/>
                </a:solidFill>
                <a:latin typeface="Arial"/>
              </a:defRPr>
            </a:pPr>
            <a:r>
              <a:t>Stock history + PIT fundamentals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3986783"/>
            <a:ext cx="11183112" cy="603504"/>
          </a:xfrm>
          <a:prstGeom prst="roundRect">
            <a:avLst>
              <a:gd name="adj" fmla="val 12000"/>
            </a:avLst>
          </a:prstGeom>
          <a:solidFill>
            <a:srgbClr val="14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02920" y="3986783"/>
            <a:ext cx="50292" cy="603504"/>
          </a:xfrm>
          <a:prstGeom prst="rect">
            <a:avLst/>
          </a:prstGeom>
          <a:solidFill>
            <a:srgbClr val="F5C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body-text-35"/>
          <p:cNvSpPr txBox="1"/>
          <p:nvPr/>
        </p:nvSpPr>
        <p:spPr>
          <a:xfrm>
            <a:off x="704088" y="4050791"/>
            <a:ext cx="3383280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4F7FC"/>
                </a:solidFill>
                <a:latin typeface="Arial"/>
              </a:defRPr>
            </a:pPr>
            <a:r>
              <a:t>PEAD / Earnings</a:t>
            </a:r>
          </a:p>
        </p:txBody>
      </p:sp>
      <p:sp>
        <p:nvSpPr>
          <p:cNvPr id="36" name="body-text-36"/>
          <p:cNvSpPr txBox="1"/>
          <p:nvPr/>
        </p:nvSpPr>
        <p:spPr>
          <a:xfrm>
            <a:off x="4206240" y="4050791"/>
            <a:ext cx="2496312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5C978"/>
                </a:solidFill>
                <a:latin typeface="Arial"/>
              </a:defRPr>
            </a:pPr>
            <a:r>
              <a:t>DEFER</a:t>
            </a:r>
          </a:p>
        </p:txBody>
      </p:sp>
      <p:sp>
        <p:nvSpPr>
          <p:cNvPr id="37" name="body-text-37"/>
          <p:cNvSpPr txBox="1"/>
          <p:nvPr/>
        </p:nvSpPr>
        <p:spPr>
          <a:xfrm>
            <a:off x="6784848" y="4041647"/>
            <a:ext cx="466344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B1C0D4"/>
                </a:solidFill>
                <a:latin typeface="Arial"/>
              </a:defRPr>
            </a:pPr>
            <a:r>
              <a:t>Consensus vintages unavailable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920" y="4690872"/>
            <a:ext cx="11183112" cy="603504"/>
          </a:xfrm>
          <a:prstGeom prst="roundRect">
            <a:avLst>
              <a:gd name="adj" fmla="val 12000"/>
            </a:avLst>
          </a:prstGeom>
          <a:solidFill>
            <a:srgbClr val="14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" y="4690872"/>
            <a:ext cx="50292" cy="603504"/>
          </a:xfrm>
          <a:prstGeom prst="rect">
            <a:avLst/>
          </a:prstGeom>
          <a:solidFill>
            <a:srgbClr val="90C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body-text-40"/>
          <p:cNvSpPr txBox="1"/>
          <p:nvPr/>
        </p:nvSpPr>
        <p:spPr>
          <a:xfrm>
            <a:off x="704088" y="4754880"/>
            <a:ext cx="3383280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4F7FC"/>
                </a:solidFill>
                <a:latin typeface="Arial"/>
              </a:defRPr>
            </a:pPr>
            <a:r>
              <a:t>ETF Relative Momentum</a:t>
            </a:r>
          </a:p>
        </p:txBody>
      </p:sp>
      <p:sp>
        <p:nvSpPr>
          <p:cNvPr id="41" name="body-text-41"/>
          <p:cNvSpPr txBox="1"/>
          <p:nvPr/>
        </p:nvSpPr>
        <p:spPr>
          <a:xfrm>
            <a:off x="4206240" y="4754880"/>
            <a:ext cx="2496312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90C7F6"/>
                </a:solidFill>
                <a:latin typeface="Arial"/>
              </a:defRPr>
            </a:pPr>
            <a:r>
              <a:t>NOT YET TESTED</a:t>
            </a:r>
          </a:p>
        </p:txBody>
      </p:sp>
      <p:sp>
        <p:nvSpPr>
          <p:cNvPr id="42" name="body-text-42"/>
          <p:cNvSpPr txBox="1"/>
          <p:nvPr/>
        </p:nvSpPr>
        <p:spPr>
          <a:xfrm>
            <a:off x="6784848" y="4745736"/>
            <a:ext cx="466344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B1C0D4"/>
                </a:solidFill>
                <a:latin typeface="Arial"/>
              </a:defRPr>
            </a:pPr>
            <a:r>
              <a:t>Frozen protocol; acquisition blocked</a:t>
            </a:r>
          </a:p>
        </p:txBody>
      </p:sp>
      <p:sp>
        <p:nvSpPr>
          <p:cNvPr id="43" name="body-text-43"/>
          <p:cNvSpPr txBox="1"/>
          <p:nvPr/>
        </p:nvSpPr>
        <p:spPr>
          <a:xfrm>
            <a:off x="502920" y="562356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6DE5C1"/>
                </a:solidFill>
                <a:latin typeface="Arial"/>
              </a:defRPr>
            </a:pPr>
            <a:r>
              <a:t>THIS IS THE POINT.</a:t>
            </a:r>
          </a:p>
        </p:txBody>
      </p:sp>
      <p:sp>
        <p:nvSpPr>
          <p:cNvPr id="44" name="body-text-44"/>
          <p:cNvSpPr txBox="1"/>
          <p:nvPr/>
        </p:nvSpPr>
        <p:spPr>
          <a:xfrm>
            <a:off x="4709160" y="5632704"/>
            <a:ext cx="69494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F4F7FC"/>
                </a:solidFill>
                <a:latin typeface="Arial"/>
              </a:defRPr>
            </a:pPr>
            <a:r>
              <a:t>The lab preserves negative evidence.</a:t>
            </a:r>
          </a:p>
        </p:txBody>
      </p:sp>
      <p:sp>
        <p:nvSpPr>
          <p:cNvPr id="45" name="metadata-text-45"/>
          <p:cNvSpPr txBox="1"/>
          <p:nvPr/>
        </p:nvSpPr>
        <p:spPr>
          <a:xfrm>
            <a:off x="502920" y="6199632"/>
            <a:ext cx="11183112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B1C0D4"/>
                </a:solidFill>
                <a:latin typeface="Arial"/>
              </a:defRPr>
            </a:pPr>
            <a:r>
              <a:t>Trend: near rejection. Missing data is not an economic rejection.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etadata-text-2"/>
          <p:cNvSpPr txBox="1"/>
          <p:nvPr/>
        </p:nvSpPr>
        <p:spPr>
          <a:xfrm>
            <a:off x="502920" y="2468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DE5C1"/>
                </a:solidFill>
                <a:latin typeface="Arial"/>
              </a:defRPr>
            </a:pPr>
            <a:r>
              <a:t>AQL / REAL RESEARCH</a:t>
            </a:r>
          </a:p>
        </p:txBody>
      </p:sp>
      <p:sp>
        <p:nvSpPr>
          <p:cNvPr id="3" name="body-text-3"/>
          <p:cNvSpPr txBox="1"/>
          <p:nvPr/>
        </p:nvSpPr>
        <p:spPr>
          <a:xfrm>
            <a:off x="502920" y="731520"/>
            <a:ext cx="11183112" cy="1024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F4F7FC"/>
                </a:solidFill>
                <a:latin typeface="Arial"/>
              </a:defRPr>
            </a:pPr>
            <a:r>
              <a:t>Trend looked promising — until we tested it properly</a:t>
            </a:r>
          </a:p>
        </p:txBody>
      </p:sp>
      <p:sp>
        <p:nvSpPr>
          <p:cNvPr id="4" name="metadata-text-4"/>
          <p:cNvSpPr txBox="1"/>
          <p:nvPr/>
        </p:nvSpPr>
        <p:spPr>
          <a:xfrm>
            <a:off x="502920" y="6464808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1C0D4"/>
                </a:solidFill>
                <a:latin typeface="Arial"/>
              </a:defRPr>
            </a:pPr>
            <a:r>
              <a:t>AGENTIC QUANT LAB</a:t>
            </a:r>
          </a:p>
        </p:txBody>
      </p:sp>
      <p:sp>
        <p:nvSpPr>
          <p:cNvPr id="5" name="metadata-text-5"/>
          <p:cNvSpPr txBox="1"/>
          <p:nvPr/>
        </p:nvSpPr>
        <p:spPr>
          <a:xfrm>
            <a:off x="10698480" y="6446520"/>
            <a:ext cx="98755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1C0D4"/>
                </a:solidFill>
                <a:latin typeface="Arial"/>
              </a:defRPr>
            </a:pPr>
            <a:r>
              <a:t>06 / 11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739128"/>
            <a:ext cx="955547" cy="22860"/>
          </a:xfrm>
          <a:prstGeom prst="rect">
            <a:avLst/>
          </a:prstGeom>
          <a:solidFill>
            <a:srgbClr val="6DE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522476" y="6739128"/>
            <a:ext cx="955547" cy="22860"/>
          </a:xfrm>
          <a:prstGeom prst="rect">
            <a:avLst/>
          </a:prstGeom>
          <a:solidFill>
            <a:srgbClr val="6DE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42032" y="6739128"/>
            <a:ext cx="955547" cy="22860"/>
          </a:xfrm>
          <a:prstGeom prst="rect">
            <a:avLst/>
          </a:prstGeom>
          <a:solidFill>
            <a:srgbClr val="6DE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61587" y="6739128"/>
            <a:ext cx="955547" cy="22860"/>
          </a:xfrm>
          <a:prstGeom prst="rect">
            <a:avLst/>
          </a:prstGeom>
          <a:solidFill>
            <a:srgbClr val="6DE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81144" y="6739128"/>
            <a:ext cx="955547" cy="22860"/>
          </a:xfrm>
          <a:prstGeom prst="rect">
            <a:avLst/>
          </a:prstGeom>
          <a:solidFill>
            <a:srgbClr val="6DE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00700" y="6739128"/>
            <a:ext cx="955547" cy="22860"/>
          </a:xfrm>
          <a:prstGeom prst="rect">
            <a:avLst/>
          </a:prstGeom>
          <a:solidFill>
            <a:srgbClr val="6DE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20255" y="6739128"/>
            <a:ext cx="955547" cy="22860"/>
          </a:xfrm>
          <a:prstGeom prst="rect">
            <a:avLst/>
          </a:prstGeom>
          <a:solidFill>
            <a:srgbClr val="344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639812" y="6739128"/>
            <a:ext cx="955547" cy="22860"/>
          </a:xfrm>
          <a:prstGeom prst="rect">
            <a:avLst/>
          </a:prstGeom>
          <a:solidFill>
            <a:srgbClr val="344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659368" y="6739128"/>
            <a:ext cx="955547" cy="22860"/>
          </a:xfrm>
          <a:prstGeom prst="rect">
            <a:avLst/>
          </a:prstGeom>
          <a:solidFill>
            <a:srgbClr val="344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678924" y="6739128"/>
            <a:ext cx="955547" cy="22860"/>
          </a:xfrm>
          <a:prstGeom prst="rect">
            <a:avLst/>
          </a:prstGeom>
          <a:solidFill>
            <a:srgbClr val="344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698480" y="6739128"/>
            <a:ext cx="955547" cy="22860"/>
          </a:xfrm>
          <a:prstGeom prst="rect">
            <a:avLst/>
          </a:prstGeom>
          <a:solidFill>
            <a:srgbClr val="344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ody-text-17"/>
          <p:cNvSpPr txBox="1"/>
          <p:nvPr/>
        </p:nvSpPr>
        <p:spPr>
          <a:xfrm>
            <a:off x="502920" y="18288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5C978"/>
                </a:solidFill>
                <a:latin typeface="Arial"/>
              </a:defRPr>
            </a:pPr>
            <a:r>
              <a:t>REAL RESEARCH · EXPLORATORY / NAV-BASED</a:t>
            </a:r>
          </a:p>
        </p:txBody>
      </p:sp>
      <p:sp>
        <p:nvSpPr>
          <p:cNvPr id="18" name="metadata-text-18"/>
          <p:cNvSpPr txBox="1"/>
          <p:nvPr/>
        </p:nvSpPr>
        <p:spPr>
          <a:xfrm>
            <a:off x="502920" y="2221992"/>
            <a:ext cx="1097280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B1C0D4"/>
                </a:solidFill>
                <a:latin typeface="Arial"/>
              </a:defRPr>
            </a:pPr>
            <a:r>
              <a:t>2016-01-04 → 2026-07-31 · SPY / BIL · 20 bps one-way costs</a:t>
            </a:r>
          </a:p>
        </p:txBody>
      </p:sp>
      <p:sp>
        <p:nvSpPr>
          <p:cNvPr id="19" name="body-text-19"/>
          <p:cNvSpPr txBox="1"/>
          <p:nvPr/>
        </p:nvSpPr>
        <p:spPr>
          <a:xfrm>
            <a:off x="2852928" y="2642616"/>
            <a:ext cx="32004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6DE5C1"/>
                </a:solidFill>
                <a:latin typeface="Arial"/>
              </a:defRPr>
            </a:pPr>
            <a:r>
              <a:t>CAGR ↑</a:t>
            </a:r>
          </a:p>
        </p:txBody>
      </p:sp>
      <p:sp>
        <p:nvSpPr>
          <p:cNvPr id="20" name="body-text-20"/>
          <p:cNvSpPr txBox="1"/>
          <p:nvPr/>
        </p:nvSpPr>
        <p:spPr>
          <a:xfrm>
            <a:off x="7424927" y="2642616"/>
            <a:ext cx="42519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90C7F6"/>
                </a:solidFill>
                <a:latin typeface="Arial"/>
              </a:defRPr>
            </a:pPr>
            <a:r>
              <a:t>MAX DRAWDOWN ↓ magnitude</a:t>
            </a:r>
          </a:p>
        </p:txBody>
      </p:sp>
      <p:sp>
        <p:nvSpPr>
          <p:cNvPr id="21" name="body-text-21"/>
          <p:cNvSpPr txBox="1"/>
          <p:nvPr/>
        </p:nvSpPr>
        <p:spPr>
          <a:xfrm>
            <a:off x="502920" y="3086100"/>
            <a:ext cx="2240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4F7FC"/>
                </a:solidFill>
                <a:latin typeface="Arial"/>
              </a:defRPr>
            </a:pPr>
            <a:r>
              <a:t>SPY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52928" y="3140964"/>
            <a:ext cx="2576874" cy="192024"/>
          </a:xfrm>
          <a:prstGeom prst="rect">
            <a:avLst/>
          </a:prstGeom>
          <a:solidFill>
            <a:srgbClr val="6DE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body-text-23"/>
          <p:cNvSpPr txBox="1"/>
          <p:nvPr/>
        </p:nvSpPr>
        <p:spPr>
          <a:xfrm>
            <a:off x="5724144" y="3086100"/>
            <a:ext cx="13258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6DE5C1"/>
                </a:solidFill>
                <a:latin typeface="Arial"/>
              </a:defRPr>
            </a:pPr>
            <a:r>
              <a:t>15.03%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24927" y="3140964"/>
            <a:ext cx="2094487" cy="192024"/>
          </a:xfrm>
          <a:prstGeom prst="rect">
            <a:avLst/>
          </a:prstGeom>
          <a:solidFill>
            <a:srgbClr val="90C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ody-text-25"/>
          <p:cNvSpPr txBox="1"/>
          <p:nvPr/>
        </p:nvSpPr>
        <p:spPr>
          <a:xfrm>
            <a:off x="10094976" y="3086100"/>
            <a:ext cx="159105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90C7F6"/>
                </a:solidFill>
                <a:latin typeface="Arial"/>
              </a:defRPr>
            </a:pPr>
            <a:r>
              <a:t>-33.68%</a:t>
            </a:r>
          </a:p>
        </p:txBody>
      </p:sp>
      <p:sp>
        <p:nvSpPr>
          <p:cNvPr id="26" name="body-text-26"/>
          <p:cNvSpPr txBox="1"/>
          <p:nvPr/>
        </p:nvSpPr>
        <p:spPr>
          <a:xfrm>
            <a:off x="502920" y="3479292"/>
            <a:ext cx="2240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4F7FC"/>
                </a:solidFill>
                <a:latin typeface="Arial"/>
              </a:defRPr>
            </a:pPr>
            <a:r>
              <a:t>Static 80/20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52928" y="3534156"/>
            <a:ext cx="2147869" cy="192024"/>
          </a:xfrm>
          <a:prstGeom prst="rect">
            <a:avLst/>
          </a:prstGeom>
          <a:solidFill>
            <a:srgbClr val="6DE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body-text-28"/>
          <p:cNvSpPr txBox="1"/>
          <p:nvPr/>
        </p:nvSpPr>
        <p:spPr>
          <a:xfrm>
            <a:off x="5724144" y="3479292"/>
            <a:ext cx="13258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6DE5C1"/>
                </a:solidFill>
                <a:latin typeface="Arial"/>
              </a:defRPr>
            </a:pPr>
            <a:r>
              <a:t>12.53%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24927" y="3534156"/>
            <a:ext cx="1699449" cy="192024"/>
          </a:xfrm>
          <a:prstGeom prst="rect">
            <a:avLst/>
          </a:prstGeom>
          <a:solidFill>
            <a:srgbClr val="90C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body-text-30"/>
          <p:cNvSpPr txBox="1"/>
          <p:nvPr/>
        </p:nvSpPr>
        <p:spPr>
          <a:xfrm>
            <a:off x="10094976" y="3479292"/>
            <a:ext cx="159105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90C7F6"/>
                </a:solidFill>
                <a:latin typeface="Arial"/>
              </a:defRPr>
            </a:pPr>
            <a:r>
              <a:t>-27.33%</a:t>
            </a:r>
          </a:p>
        </p:txBody>
      </p:sp>
      <p:sp>
        <p:nvSpPr>
          <p:cNvPr id="31" name="body-text-31"/>
          <p:cNvSpPr txBox="1"/>
          <p:nvPr/>
        </p:nvSpPr>
        <p:spPr>
          <a:xfrm>
            <a:off x="502920" y="3872483"/>
            <a:ext cx="2240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4F7FC"/>
                </a:solidFill>
                <a:latin typeface="Arial"/>
              </a:defRPr>
            </a:pPr>
            <a:r>
              <a:t>Static 70/30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52928" y="3927348"/>
            <a:ext cx="1930204" cy="192024"/>
          </a:xfrm>
          <a:prstGeom prst="rect">
            <a:avLst/>
          </a:prstGeom>
          <a:solidFill>
            <a:srgbClr val="6DE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body-text-33"/>
          <p:cNvSpPr txBox="1"/>
          <p:nvPr/>
        </p:nvSpPr>
        <p:spPr>
          <a:xfrm>
            <a:off x="5724144" y="3872483"/>
            <a:ext cx="13258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6DE5C1"/>
                </a:solidFill>
                <a:latin typeface="Arial"/>
              </a:defRPr>
            </a:pPr>
            <a:r>
              <a:t>11.26%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24927" y="3927348"/>
            <a:ext cx="1497040" cy="192024"/>
          </a:xfrm>
          <a:prstGeom prst="rect">
            <a:avLst/>
          </a:prstGeom>
          <a:solidFill>
            <a:srgbClr val="90C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body-text-35"/>
          <p:cNvSpPr txBox="1"/>
          <p:nvPr/>
        </p:nvSpPr>
        <p:spPr>
          <a:xfrm>
            <a:off x="10094976" y="3872483"/>
            <a:ext cx="159105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90C7F6"/>
                </a:solidFill>
                <a:latin typeface="Arial"/>
              </a:defRPr>
            </a:pPr>
            <a:r>
              <a:t>-24.08%</a:t>
            </a:r>
          </a:p>
        </p:txBody>
      </p:sp>
      <p:sp>
        <p:nvSpPr>
          <p:cNvPr id="36" name="body-text-36"/>
          <p:cNvSpPr txBox="1"/>
          <p:nvPr/>
        </p:nvSpPr>
        <p:spPr>
          <a:xfrm>
            <a:off x="502920" y="4265675"/>
            <a:ext cx="2240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4F7FC"/>
                </a:solidFill>
                <a:latin typeface="Arial"/>
              </a:defRPr>
            </a:pPr>
            <a:r>
              <a:t>Absolute12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852928" y="4320540"/>
            <a:ext cx="1930653" cy="192024"/>
          </a:xfrm>
          <a:prstGeom prst="rect">
            <a:avLst/>
          </a:prstGeom>
          <a:solidFill>
            <a:srgbClr val="F5C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body-text-38"/>
          <p:cNvSpPr txBox="1"/>
          <p:nvPr/>
        </p:nvSpPr>
        <p:spPr>
          <a:xfrm>
            <a:off x="5724144" y="4265675"/>
            <a:ext cx="13258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5C978"/>
                </a:solidFill>
                <a:latin typeface="Arial"/>
              </a:defRPr>
            </a:pPr>
            <a:r>
              <a:t>11.26%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24927" y="4320540"/>
            <a:ext cx="2094487" cy="192024"/>
          </a:xfrm>
          <a:prstGeom prst="rect">
            <a:avLst/>
          </a:prstGeom>
          <a:solidFill>
            <a:srgbClr val="90C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body-text-40"/>
          <p:cNvSpPr txBox="1"/>
          <p:nvPr/>
        </p:nvSpPr>
        <p:spPr>
          <a:xfrm>
            <a:off x="10094976" y="4265675"/>
            <a:ext cx="159105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90C7F6"/>
                </a:solidFill>
                <a:latin typeface="Arial"/>
              </a:defRPr>
            </a:pPr>
            <a:r>
              <a:t>-33.68%</a:t>
            </a:r>
          </a:p>
        </p:txBody>
      </p:sp>
      <p:sp>
        <p:nvSpPr>
          <p:cNvPr id="41" name="body-text-41"/>
          <p:cNvSpPr txBox="1"/>
          <p:nvPr/>
        </p:nvSpPr>
        <p:spPr>
          <a:xfrm>
            <a:off x="502920" y="4658868"/>
            <a:ext cx="2240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4F7FC"/>
                </a:solidFill>
                <a:latin typeface="Arial"/>
              </a:defRPr>
            </a:pPr>
            <a:r>
              <a:t>SMA10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852928" y="4713732"/>
            <a:ext cx="1345934" cy="192024"/>
          </a:xfrm>
          <a:prstGeom prst="rect">
            <a:avLst/>
          </a:prstGeom>
          <a:solidFill>
            <a:srgbClr val="F5C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body-text-43"/>
          <p:cNvSpPr txBox="1"/>
          <p:nvPr/>
        </p:nvSpPr>
        <p:spPr>
          <a:xfrm>
            <a:off x="5724144" y="4658868"/>
            <a:ext cx="13258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5C978"/>
                </a:solidFill>
                <a:latin typeface="Arial"/>
              </a:defRPr>
            </a:pPr>
            <a:r>
              <a:t>7.85%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24927" y="4713732"/>
            <a:ext cx="1752539" cy="192024"/>
          </a:xfrm>
          <a:prstGeom prst="rect">
            <a:avLst/>
          </a:prstGeom>
          <a:solidFill>
            <a:srgbClr val="90C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body-text-45"/>
          <p:cNvSpPr txBox="1"/>
          <p:nvPr/>
        </p:nvSpPr>
        <p:spPr>
          <a:xfrm>
            <a:off x="10094976" y="4658868"/>
            <a:ext cx="159105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90C7F6"/>
                </a:solidFill>
                <a:latin typeface="Arial"/>
              </a:defRPr>
            </a:pPr>
            <a:r>
              <a:t>-28.19%</a:t>
            </a:r>
          </a:p>
        </p:txBody>
      </p:sp>
      <p:sp>
        <p:nvSpPr>
          <p:cNvPr id="46" name="metadata-text-46"/>
          <p:cNvSpPr txBox="1"/>
          <p:nvPr/>
        </p:nvSpPr>
        <p:spPr>
          <a:xfrm>
            <a:off x="2779776" y="5084064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1C0D4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47" name="metadata-text-47"/>
          <p:cNvSpPr txBox="1"/>
          <p:nvPr/>
        </p:nvSpPr>
        <p:spPr>
          <a:xfrm>
            <a:off x="4151376" y="5084064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1C0D4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48" name="metadata-text-48"/>
          <p:cNvSpPr txBox="1"/>
          <p:nvPr/>
        </p:nvSpPr>
        <p:spPr>
          <a:xfrm>
            <a:off x="5522976" y="5084064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1C0D4"/>
                </a:solidFill>
                <a:latin typeface="Arial"/>
              </a:defRPr>
            </a:pPr>
            <a:r>
              <a:t>16%</a:t>
            </a:r>
          </a:p>
        </p:txBody>
      </p:sp>
      <p:sp>
        <p:nvSpPr>
          <p:cNvPr id="49" name="metadata-text-49"/>
          <p:cNvSpPr txBox="1"/>
          <p:nvPr/>
        </p:nvSpPr>
        <p:spPr>
          <a:xfrm>
            <a:off x="7351775" y="5084064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1C0D4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50" name="metadata-text-50"/>
          <p:cNvSpPr txBox="1"/>
          <p:nvPr/>
        </p:nvSpPr>
        <p:spPr>
          <a:xfrm>
            <a:off x="8595359" y="5084064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1C0D4"/>
                </a:solidFill>
                <a:latin typeface="Arial"/>
              </a:defRPr>
            </a:pPr>
            <a:r>
              <a:t>20</a:t>
            </a:r>
          </a:p>
        </p:txBody>
      </p:sp>
      <p:sp>
        <p:nvSpPr>
          <p:cNvPr id="51" name="metadata-text-51"/>
          <p:cNvSpPr txBox="1"/>
          <p:nvPr/>
        </p:nvSpPr>
        <p:spPr>
          <a:xfrm>
            <a:off x="9838944" y="5084064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1C0D4"/>
                </a:solidFill>
                <a:latin typeface="Arial"/>
              </a:defRPr>
            </a:pPr>
            <a:r>
              <a:t>40%</a:t>
            </a:r>
          </a:p>
        </p:txBody>
      </p:sp>
      <p:sp>
        <p:nvSpPr>
          <p:cNvPr id="52" name="body-text-52"/>
          <p:cNvSpPr txBox="1"/>
          <p:nvPr/>
        </p:nvSpPr>
        <p:spPr>
          <a:xfrm>
            <a:off x="502920" y="5431536"/>
            <a:ext cx="5440680" cy="6309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4F7FC"/>
                </a:solidFill>
                <a:latin typeface="Arial"/>
              </a:defRPr>
            </a:pPr>
            <a:r>
              <a:t>Absolute12: no worst-drawdown benefit</a:t>
            </a:r>
          </a:p>
        </p:txBody>
      </p:sp>
      <p:sp>
        <p:nvSpPr>
          <p:cNvPr id="53" name="body-text-53"/>
          <p:cNvSpPr txBox="1"/>
          <p:nvPr/>
        </p:nvSpPr>
        <p:spPr>
          <a:xfrm>
            <a:off x="6309360" y="5431536"/>
            <a:ext cx="5367528" cy="6309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4F7FC"/>
                </a:solidFill>
                <a:latin typeface="Arial"/>
              </a:defRPr>
            </a:pPr>
            <a:r>
              <a:t>SMA10: COVID protection, then missed rebound</a:t>
            </a:r>
          </a:p>
        </p:txBody>
      </p:sp>
      <p:sp>
        <p:nvSpPr>
          <p:cNvPr id="54" name="body-text-54"/>
          <p:cNvSpPr txBox="1"/>
          <p:nvPr/>
        </p:nvSpPr>
        <p:spPr>
          <a:xfrm>
            <a:off x="502920" y="6080760"/>
            <a:ext cx="111556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5C978"/>
                </a:solidFill>
                <a:latin typeface="Arial"/>
              </a:defRPr>
            </a:pPr>
            <a:r>
              <a:t>Losing defensive cycles: Absolute12 4/4 · SMA10 9/11</a:t>
            </a:r>
          </a:p>
        </p:txBody>
      </p:sp>
      <p:sp>
        <p:nvSpPr>
          <p:cNvPr id="55" name="metadata-text-55"/>
          <p:cNvSpPr txBox="1"/>
          <p:nvPr/>
        </p:nvSpPr>
        <p:spPr>
          <a:xfrm>
            <a:off x="502920" y="521207"/>
            <a:ext cx="10972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6DE5C1"/>
                </a:solidFill>
                <a:latin typeface="Arial"/>
              </a:defRPr>
            </a:pPr>
            <a:r>
              <a:t>We didn't retune the failed rule.</a:t>
            </a:r>
          </a:p>
        </p:txBody>
      </p:sp>
      <p:sp>
        <p:nvSpPr>
          <p:cNvPr id="56" name="metadata-text-56"/>
          <p:cNvSpPr txBox="1"/>
          <p:nvPr/>
        </p:nvSpPr>
        <p:spPr>
          <a:xfrm>
            <a:off x="4343400" y="6455664"/>
            <a:ext cx="612648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1C0D4"/>
                </a:solidFill>
                <a:latin typeface="Arial"/>
              </a:defRPr>
            </a:pPr>
            <a:r>
              <a:t>NOT PRODUCTION-READY · NAV proxy, not executable closes.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etadata-text-2"/>
          <p:cNvSpPr txBox="1"/>
          <p:nvPr/>
        </p:nvSpPr>
        <p:spPr>
          <a:xfrm>
            <a:off x="502920" y="2468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DE5C1"/>
                </a:solidFill>
                <a:latin typeface="Arial"/>
              </a:defRPr>
            </a:pPr>
            <a:r>
              <a:t>AQL / SYNTHETIC DEMO</a:t>
            </a:r>
          </a:p>
        </p:txBody>
      </p:sp>
      <p:sp>
        <p:nvSpPr>
          <p:cNvPr id="3" name="body-text-3"/>
          <p:cNvSpPr txBox="1"/>
          <p:nvPr/>
        </p:nvSpPr>
        <p:spPr>
          <a:xfrm>
            <a:off x="502920" y="731520"/>
            <a:ext cx="11183112" cy="1024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F4F7FC"/>
                </a:solidFill>
                <a:latin typeface="Arial"/>
              </a:defRPr>
            </a:pPr>
            <a:r>
              <a:t>One command → research to dry-run execution</a:t>
            </a:r>
          </a:p>
        </p:txBody>
      </p:sp>
      <p:sp>
        <p:nvSpPr>
          <p:cNvPr id="4" name="metadata-text-4"/>
          <p:cNvSpPr txBox="1"/>
          <p:nvPr/>
        </p:nvSpPr>
        <p:spPr>
          <a:xfrm>
            <a:off x="502920" y="6464808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1C0D4"/>
                </a:solidFill>
                <a:latin typeface="Arial"/>
              </a:defRPr>
            </a:pPr>
            <a:r>
              <a:t>AGENTIC QUANT LAB</a:t>
            </a:r>
          </a:p>
        </p:txBody>
      </p:sp>
      <p:sp>
        <p:nvSpPr>
          <p:cNvPr id="5" name="metadata-text-5"/>
          <p:cNvSpPr txBox="1"/>
          <p:nvPr/>
        </p:nvSpPr>
        <p:spPr>
          <a:xfrm>
            <a:off x="10698480" y="6446520"/>
            <a:ext cx="98755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1C0D4"/>
                </a:solidFill>
                <a:latin typeface="Arial"/>
              </a:defRPr>
            </a:pPr>
            <a:r>
              <a:t>07 / 11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739128"/>
            <a:ext cx="955547" cy="22860"/>
          </a:xfrm>
          <a:prstGeom prst="rect">
            <a:avLst/>
          </a:prstGeom>
          <a:solidFill>
            <a:srgbClr val="6DE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522476" y="6739128"/>
            <a:ext cx="955547" cy="22860"/>
          </a:xfrm>
          <a:prstGeom prst="rect">
            <a:avLst/>
          </a:prstGeom>
          <a:solidFill>
            <a:srgbClr val="6DE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42032" y="6739128"/>
            <a:ext cx="955547" cy="22860"/>
          </a:xfrm>
          <a:prstGeom prst="rect">
            <a:avLst/>
          </a:prstGeom>
          <a:solidFill>
            <a:srgbClr val="6DE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61587" y="6739128"/>
            <a:ext cx="955547" cy="22860"/>
          </a:xfrm>
          <a:prstGeom prst="rect">
            <a:avLst/>
          </a:prstGeom>
          <a:solidFill>
            <a:srgbClr val="6DE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81144" y="6739128"/>
            <a:ext cx="955547" cy="22860"/>
          </a:xfrm>
          <a:prstGeom prst="rect">
            <a:avLst/>
          </a:prstGeom>
          <a:solidFill>
            <a:srgbClr val="6DE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00700" y="6739128"/>
            <a:ext cx="955547" cy="22860"/>
          </a:xfrm>
          <a:prstGeom prst="rect">
            <a:avLst/>
          </a:prstGeom>
          <a:solidFill>
            <a:srgbClr val="6DE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20255" y="6739128"/>
            <a:ext cx="955547" cy="22860"/>
          </a:xfrm>
          <a:prstGeom prst="rect">
            <a:avLst/>
          </a:prstGeom>
          <a:solidFill>
            <a:srgbClr val="6DE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639812" y="6739128"/>
            <a:ext cx="955547" cy="22860"/>
          </a:xfrm>
          <a:prstGeom prst="rect">
            <a:avLst/>
          </a:prstGeom>
          <a:solidFill>
            <a:srgbClr val="344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659368" y="6739128"/>
            <a:ext cx="955547" cy="22860"/>
          </a:xfrm>
          <a:prstGeom prst="rect">
            <a:avLst/>
          </a:prstGeom>
          <a:solidFill>
            <a:srgbClr val="344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678924" y="6739128"/>
            <a:ext cx="955547" cy="22860"/>
          </a:xfrm>
          <a:prstGeom prst="rect">
            <a:avLst/>
          </a:prstGeom>
          <a:solidFill>
            <a:srgbClr val="344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698480" y="6739128"/>
            <a:ext cx="955547" cy="22860"/>
          </a:xfrm>
          <a:prstGeom prst="rect">
            <a:avLst/>
          </a:prstGeom>
          <a:solidFill>
            <a:srgbClr val="344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920" y="1947672"/>
            <a:ext cx="11183112" cy="1033271"/>
          </a:xfrm>
          <a:prstGeom prst="roundRect">
            <a:avLst>
              <a:gd name="adj" fmla="val 12000"/>
            </a:avLst>
          </a:prstGeom>
          <a:solidFill>
            <a:srgbClr val="142137"/>
          </a:solidFill>
          <a:ln w="15875">
            <a:solidFill>
              <a:srgbClr val="6DE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ody-text-18"/>
          <p:cNvSpPr txBox="1"/>
          <p:nvPr/>
        </p:nvSpPr>
        <p:spPr>
          <a:xfrm>
            <a:off x="777240" y="2194560"/>
            <a:ext cx="4572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3100" b="0">
                <a:solidFill>
                  <a:srgbClr val="6DE5C1"/>
                </a:solidFill>
                <a:latin typeface="Arial"/>
              </a:defRPr>
            </a:pPr>
            <a:r>
              <a:t>$</a:t>
            </a:r>
          </a:p>
        </p:txBody>
      </p:sp>
      <p:sp>
        <p:nvSpPr>
          <p:cNvPr id="19" name="body-text-19"/>
          <p:cNvSpPr txBox="1"/>
          <p:nvPr/>
        </p:nvSpPr>
        <p:spPr>
          <a:xfrm>
            <a:off x="1344168" y="2167128"/>
            <a:ext cx="10040112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4F7FC"/>
                </a:solidFill>
                <a:latin typeface="Arial"/>
              </a:defRPr>
            </a:pPr>
            <a:r>
              <a:t>uv run aql demo</a:t>
            </a:r>
          </a:p>
        </p:txBody>
      </p:sp>
      <p:sp>
        <p:nvSpPr>
          <p:cNvPr id="20" name="body-text-20"/>
          <p:cNvSpPr txBox="1"/>
          <p:nvPr/>
        </p:nvSpPr>
        <p:spPr>
          <a:xfrm>
            <a:off x="731520" y="3163824"/>
            <a:ext cx="109545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4F7FC"/>
                </a:solidFill>
                <a:latin typeface="Arial"/>
              </a:defRPr>
            </a:pPr>
            <a:r>
              <a:t>Agent → Experiment → Backtest</a:t>
            </a:r>
          </a:p>
        </p:txBody>
      </p:sp>
      <p:sp>
        <p:nvSpPr>
          <p:cNvPr id="21" name="body-text-21"/>
          <p:cNvSpPr txBox="1"/>
          <p:nvPr/>
        </p:nvSpPr>
        <p:spPr>
          <a:xfrm>
            <a:off x="731520" y="3703320"/>
            <a:ext cx="109545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6DE5C1"/>
                </a:solidFill>
                <a:latin typeface="Arial"/>
              </a:defRPr>
            </a:pPr>
            <a:r>
              <a:t>Falsification → Tournament → Portfolio</a:t>
            </a:r>
          </a:p>
        </p:txBody>
      </p:sp>
      <p:sp>
        <p:nvSpPr>
          <p:cNvPr id="22" name="body-text-22"/>
          <p:cNvSpPr txBox="1"/>
          <p:nvPr/>
        </p:nvSpPr>
        <p:spPr>
          <a:xfrm>
            <a:off x="731520" y="4242816"/>
            <a:ext cx="109545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6DE5C1"/>
                </a:solidFill>
                <a:latin typeface="Arial"/>
              </a:defRPr>
            </a:pPr>
            <a:r>
              <a:t>RiskGate → DRY RUN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937760"/>
            <a:ext cx="2542032" cy="749808"/>
          </a:xfrm>
          <a:prstGeom prst="roundRect">
            <a:avLst>
              <a:gd name="adj" fmla="val 12000"/>
            </a:avLst>
          </a:prstGeom>
          <a:solidFill>
            <a:srgbClr val="142137"/>
          </a:solidFill>
          <a:ln w="15875">
            <a:solidFill>
              <a:srgbClr val="F5C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body-text-24"/>
          <p:cNvSpPr txBox="1"/>
          <p:nvPr/>
        </p:nvSpPr>
        <p:spPr>
          <a:xfrm>
            <a:off x="576072" y="4974336"/>
            <a:ext cx="2395728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5C978"/>
                </a:solidFill>
                <a:latin typeface="Arial"/>
              </a:defRPr>
            </a:pPr>
            <a:r>
              <a:t>DATA: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5C978"/>
                </a:solidFill>
                <a:latin typeface="Arial"/>
              </a:defRPr>
            </a:pPr>
            <a:r>
              <a:t>DEMO FIXTURE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83280" y="4937760"/>
            <a:ext cx="2542032" cy="749808"/>
          </a:xfrm>
          <a:prstGeom prst="roundRect">
            <a:avLst>
              <a:gd name="adj" fmla="val 12000"/>
            </a:avLst>
          </a:prstGeom>
          <a:solidFill>
            <a:srgbClr val="142137"/>
          </a:solidFill>
          <a:ln w="15875">
            <a:solidFill>
              <a:srgbClr val="6DE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ody-text-26"/>
          <p:cNvSpPr txBox="1"/>
          <p:nvPr/>
        </p:nvSpPr>
        <p:spPr>
          <a:xfrm>
            <a:off x="3456432" y="4974336"/>
            <a:ext cx="2395728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6DE5C1"/>
                </a:solidFill>
                <a:latin typeface="Arial"/>
              </a:defRPr>
            </a:pPr>
            <a:r>
              <a:t>LIVE TRADING: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6DE5C1"/>
                </a:solidFill>
                <a:latin typeface="Arial"/>
              </a:defRPr>
            </a:pPr>
            <a:r>
              <a:t>OFF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4937760"/>
            <a:ext cx="2542032" cy="749808"/>
          </a:xfrm>
          <a:prstGeom prst="roundRect">
            <a:avLst>
              <a:gd name="adj" fmla="val 12000"/>
            </a:avLst>
          </a:prstGeom>
          <a:solidFill>
            <a:srgbClr val="142137"/>
          </a:solidFill>
          <a:ln w="15875">
            <a:solidFill>
              <a:srgbClr val="6DE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body-text-28"/>
          <p:cNvSpPr txBox="1"/>
          <p:nvPr/>
        </p:nvSpPr>
        <p:spPr>
          <a:xfrm>
            <a:off x="6336792" y="4974336"/>
            <a:ext cx="2395728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6DE5C1"/>
                </a:solidFill>
                <a:latin typeface="Arial"/>
              </a:defRPr>
            </a:pPr>
            <a:r>
              <a:t>EXECUTION: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6DE5C1"/>
                </a:solidFill>
                <a:latin typeface="Arial"/>
              </a:defRPr>
            </a:pPr>
            <a:r>
              <a:t>DRY RUN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0" y="4937760"/>
            <a:ext cx="2542032" cy="749808"/>
          </a:xfrm>
          <a:prstGeom prst="roundRect">
            <a:avLst>
              <a:gd name="adj" fmla="val 12000"/>
            </a:avLst>
          </a:prstGeom>
          <a:solidFill>
            <a:srgbClr val="142137"/>
          </a:solidFill>
          <a:ln w="15875">
            <a:solidFill>
              <a:srgbClr val="6DE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body-text-30"/>
          <p:cNvSpPr txBox="1"/>
          <p:nvPr/>
        </p:nvSpPr>
        <p:spPr>
          <a:xfrm>
            <a:off x="9217152" y="4974336"/>
            <a:ext cx="2395728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6DE5C1"/>
                </a:solidFill>
                <a:latin typeface="Arial"/>
              </a:defRPr>
            </a:pPr>
            <a:r>
              <a:t>INTERNET: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6DE5C1"/>
                </a:solidFill>
                <a:latin typeface="Arial"/>
              </a:defRPr>
            </a:pPr>
            <a:r>
              <a:t>NOT REQUIRED</a:t>
            </a:r>
          </a:p>
        </p:txBody>
      </p:sp>
      <p:sp>
        <p:nvSpPr>
          <p:cNvPr id="31" name="body-text-31"/>
          <p:cNvSpPr txBox="1"/>
          <p:nvPr/>
        </p:nvSpPr>
        <p:spPr>
          <a:xfrm>
            <a:off x="502920" y="5852160"/>
            <a:ext cx="1118311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B1C0D4"/>
                </a:solidFill>
                <a:latin typeface="Arial"/>
              </a:defRPr>
            </a:pPr>
            <a:r>
              <a:t>Scripted agent. Synthetic results. No LLM or broker call.</a:t>
            </a:r>
          </a:p>
        </p:txBody>
      </p:sp>
      <p:sp>
        <p:nvSpPr>
          <p:cNvPr id="32" name="metadata-text-32"/>
          <p:cNvSpPr txBox="1"/>
          <p:nvPr/>
        </p:nvSpPr>
        <p:spPr>
          <a:xfrm>
            <a:off x="502920" y="6245352"/>
            <a:ext cx="11183112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1C0D4"/>
                </a:solidFill>
                <a:latin typeface="Arial"/>
              </a:defRPr>
            </a:pPr>
            <a:r>
              <a:t>Prepared offline: uv run --offline --no-sync aql demo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etadata-text-2"/>
          <p:cNvSpPr txBox="1"/>
          <p:nvPr/>
        </p:nvSpPr>
        <p:spPr>
          <a:xfrm>
            <a:off x="502920" y="2468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DE5C1"/>
                </a:solidFill>
                <a:latin typeface="Arial"/>
              </a:defRPr>
            </a:pPr>
            <a:r>
              <a:t>AQL / SYNTHETIC DEMO / SAFETY</a:t>
            </a:r>
          </a:p>
        </p:txBody>
      </p:sp>
      <p:sp>
        <p:nvSpPr>
          <p:cNvPr id="3" name="body-text-3"/>
          <p:cNvSpPr txBox="1"/>
          <p:nvPr/>
        </p:nvSpPr>
        <p:spPr>
          <a:xfrm>
            <a:off x="502920" y="731520"/>
            <a:ext cx="11183112" cy="1024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F4F7FC"/>
                </a:solidFill>
                <a:latin typeface="Arial"/>
              </a:defRPr>
            </a:pPr>
            <a:r>
              <a:t>Agents never get direct control of capital</a:t>
            </a:r>
          </a:p>
        </p:txBody>
      </p:sp>
      <p:sp>
        <p:nvSpPr>
          <p:cNvPr id="4" name="metadata-text-4"/>
          <p:cNvSpPr txBox="1"/>
          <p:nvPr/>
        </p:nvSpPr>
        <p:spPr>
          <a:xfrm>
            <a:off x="502920" y="6464808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1C0D4"/>
                </a:solidFill>
                <a:latin typeface="Arial"/>
              </a:defRPr>
            </a:pPr>
            <a:r>
              <a:t>AGENTIC QUANT LAB</a:t>
            </a:r>
          </a:p>
        </p:txBody>
      </p:sp>
      <p:sp>
        <p:nvSpPr>
          <p:cNvPr id="5" name="metadata-text-5"/>
          <p:cNvSpPr txBox="1"/>
          <p:nvPr/>
        </p:nvSpPr>
        <p:spPr>
          <a:xfrm>
            <a:off x="10698480" y="6446520"/>
            <a:ext cx="98755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1C0D4"/>
                </a:solidFill>
                <a:latin typeface="Arial"/>
              </a:defRPr>
            </a:pPr>
            <a:r>
              <a:t>08 / 11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739128"/>
            <a:ext cx="955547" cy="22860"/>
          </a:xfrm>
          <a:prstGeom prst="rect">
            <a:avLst/>
          </a:prstGeom>
          <a:solidFill>
            <a:srgbClr val="6DE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522476" y="6739128"/>
            <a:ext cx="955547" cy="22860"/>
          </a:xfrm>
          <a:prstGeom prst="rect">
            <a:avLst/>
          </a:prstGeom>
          <a:solidFill>
            <a:srgbClr val="6DE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42032" y="6739128"/>
            <a:ext cx="955547" cy="22860"/>
          </a:xfrm>
          <a:prstGeom prst="rect">
            <a:avLst/>
          </a:prstGeom>
          <a:solidFill>
            <a:srgbClr val="6DE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61587" y="6739128"/>
            <a:ext cx="955547" cy="22860"/>
          </a:xfrm>
          <a:prstGeom prst="rect">
            <a:avLst/>
          </a:prstGeom>
          <a:solidFill>
            <a:srgbClr val="6DE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81144" y="6739128"/>
            <a:ext cx="955547" cy="22860"/>
          </a:xfrm>
          <a:prstGeom prst="rect">
            <a:avLst/>
          </a:prstGeom>
          <a:solidFill>
            <a:srgbClr val="6DE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00700" y="6739128"/>
            <a:ext cx="955547" cy="22860"/>
          </a:xfrm>
          <a:prstGeom prst="rect">
            <a:avLst/>
          </a:prstGeom>
          <a:solidFill>
            <a:srgbClr val="6DE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20255" y="6739128"/>
            <a:ext cx="955547" cy="22860"/>
          </a:xfrm>
          <a:prstGeom prst="rect">
            <a:avLst/>
          </a:prstGeom>
          <a:solidFill>
            <a:srgbClr val="6DE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639812" y="6739128"/>
            <a:ext cx="955547" cy="22860"/>
          </a:xfrm>
          <a:prstGeom prst="rect">
            <a:avLst/>
          </a:prstGeom>
          <a:solidFill>
            <a:srgbClr val="6DE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659368" y="6739128"/>
            <a:ext cx="955547" cy="22860"/>
          </a:xfrm>
          <a:prstGeom prst="rect">
            <a:avLst/>
          </a:prstGeom>
          <a:solidFill>
            <a:srgbClr val="344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678924" y="6739128"/>
            <a:ext cx="955547" cy="22860"/>
          </a:xfrm>
          <a:prstGeom prst="rect">
            <a:avLst/>
          </a:prstGeom>
          <a:solidFill>
            <a:srgbClr val="344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698480" y="6739128"/>
            <a:ext cx="955547" cy="22860"/>
          </a:xfrm>
          <a:prstGeom prst="rect">
            <a:avLst/>
          </a:prstGeom>
          <a:solidFill>
            <a:srgbClr val="344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920" y="2414016"/>
            <a:ext cx="2395728" cy="2578608"/>
          </a:xfrm>
          <a:prstGeom prst="roundRect">
            <a:avLst>
              <a:gd name="adj" fmla="val 12000"/>
            </a:avLst>
          </a:prstGeom>
          <a:solidFill>
            <a:srgbClr val="142137"/>
          </a:solidFill>
          <a:ln w="15875">
            <a:solidFill>
              <a:srgbClr val="B9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ody-text-18"/>
          <p:cNvSpPr txBox="1"/>
          <p:nvPr/>
        </p:nvSpPr>
        <p:spPr>
          <a:xfrm>
            <a:off x="685800" y="2587752"/>
            <a:ext cx="202996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B9A3FF"/>
                </a:solidFill>
                <a:latin typeface="Arial"/>
              </a:defRPr>
            </a:pPr>
            <a:r>
              <a:t>ORDER INTENT</a:t>
            </a:r>
          </a:p>
        </p:txBody>
      </p:sp>
      <p:sp>
        <p:nvSpPr>
          <p:cNvPr id="19" name="body-text-19"/>
          <p:cNvSpPr txBox="1"/>
          <p:nvPr/>
        </p:nvSpPr>
        <p:spPr>
          <a:xfrm>
            <a:off x="713232" y="3081528"/>
            <a:ext cx="198424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F4F7FC"/>
                </a:solidFill>
                <a:latin typeface="Arial"/>
              </a:defRPr>
            </a:pPr>
            <a:r>
              <a:t>BUY 10</a:t>
            </a:r>
          </a:p>
        </p:txBody>
      </p:sp>
      <p:sp>
        <p:nvSpPr>
          <p:cNvPr id="20" name="body-text-20"/>
          <p:cNvSpPr txBox="1"/>
          <p:nvPr/>
        </p:nvSpPr>
        <p:spPr>
          <a:xfrm>
            <a:off x="713232" y="3566160"/>
            <a:ext cx="198424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4F7FC"/>
                </a:solidFill>
                <a:latin typeface="Arial"/>
              </a:defRPr>
            </a:pPr>
            <a:r>
              <a:t>DEMO_UP</a:t>
            </a:r>
          </a:p>
        </p:txBody>
      </p:sp>
      <p:sp>
        <p:nvSpPr>
          <p:cNvPr id="21" name="body-text-21"/>
          <p:cNvSpPr txBox="1"/>
          <p:nvPr/>
        </p:nvSpPr>
        <p:spPr>
          <a:xfrm>
            <a:off x="713232" y="4059936"/>
            <a:ext cx="198424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6DE5C1"/>
                </a:solidFill>
                <a:latin typeface="Arial"/>
              </a:defRPr>
            </a:pPr>
            <a:r>
              <a:t>≈ $1,919.92</a:t>
            </a:r>
          </a:p>
        </p:txBody>
      </p:sp>
      <p:sp>
        <p:nvSpPr>
          <p:cNvPr id="22" name="metadata-text-22"/>
          <p:cNvSpPr txBox="1"/>
          <p:nvPr/>
        </p:nvSpPr>
        <p:spPr>
          <a:xfrm>
            <a:off x="713232" y="4626864"/>
            <a:ext cx="198424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1C0D4"/>
                </a:solidFill>
                <a:latin typeface="Arial"/>
              </a:defRPr>
            </a:pPr>
            <a:r>
              <a:t>FIXTURE ONLY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944368" y="3703320"/>
            <a:ext cx="402336" cy="0"/>
          </a:xfrm>
          <a:prstGeom prst="line">
            <a:avLst/>
          </a:prstGeom>
          <a:ln w="21590">
            <a:solidFill>
              <a:srgbClr val="6DE5C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3401568" y="1956816"/>
            <a:ext cx="5111496" cy="3566160"/>
          </a:xfrm>
          <a:prstGeom prst="roundRect">
            <a:avLst>
              <a:gd name="adj" fmla="val 12000"/>
            </a:avLst>
          </a:prstGeom>
          <a:solidFill>
            <a:srgbClr val="142137"/>
          </a:solidFill>
          <a:ln w="15875">
            <a:solidFill>
              <a:srgbClr val="6DE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ody-text-25"/>
          <p:cNvSpPr txBox="1"/>
          <p:nvPr/>
        </p:nvSpPr>
        <p:spPr>
          <a:xfrm>
            <a:off x="3657600" y="2185416"/>
            <a:ext cx="457200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6DE5C1"/>
                </a:solidFill>
                <a:latin typeface="Arial"/>
              </a:defRPr>
            </a:pPr>
            <a:r>
              <a:t>RiskGate</a:t>
            </a:r>
          </a:p>
        </p:txBody>
      </p:sp>
      <p:sp>
        <p:nvSpPr>
          <p:cNvPr id="26" name="body-text-26"/>
          <p:cNvSpPr txBox="1"/>
          <p:nvPr/>
        </p:nvSpPr>
        <p:spPr>
          <a:xfrm>
            <a:off x="3630168" y="2852928"/>
            <a:ext cx="466344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4F7FC"/>
                </a:solidFill>
                <a:latin typeface="Arial"/>
              </a:defRPr>
            </a:pPr>
            <a:r>
              <a:t>✓ Approved instrument</a:t>
            </a:r>
          </a:p>
        </p:txBody>
      </p:sp>
      <p:sp>
        <p:nvSpPr>
          <p:cNvPr id="27" name="body-text-27"/>
          <p:cNvSpPr txBox="1"/>
          <p:nvPr/>
        </p:nvSpPr>
        <p:spPr>
          <a:xfrm>
            <a:off x="3630168" y="3209544"/>
            <a:ext cx="466344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4F7FC"/>
                </a:solidFill>
                <a:latin typeface="Arial"/>
              </a:defRPr>
            </a:pPr>
            <a:r>
              <a:t>✓ Long-only · positive quantity</a:t>
            </a:r>
          </a:p>
        </p:txBody>
      </p:sp>
      <p:sp>
        <p:nvSpPr>
          <p:cNvPr id="28" name="body-text-28"/>
          <p:cNvSpPr txBox="1"/>
          <p:nvPr/>
        </p:nvSpPr>
        <p:spPr>
          <a:xfrm>
            <a:off x="3630168" y="3566160"/>
            <a:ext cx="466344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4F7FC"/>
                </a:solidFill>
                <a:latin typeface="Arial"/>
              </a:defRPr>
            </a:pPr>
            <a:r>
              <a:t>✓ No leverage</a:t>
            </a:r>
          </a:p>
        </p:txBody>
      </p:sp>
      <p:sp>
        <p:nvSpPr>
          <p:cNvPr id="29" name="body-text-29"/>
          <p:cNvSpPr txBox="1"/>
          <p:nvPr/>
        </p:nvSpPr>
        <p:spPr>
          <a:xfrm>
            <a:off x="3630168" y="3922776"/>
            <a:ext cx="466344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4F7FC"/>
                </a:solidFill>
                <a:latin typeface="Arial"/>
              </a:defRPr>
            </a:pPr>
            <a:r>
              <a:t>✓ Order / position limits</a:t>
            </a:r>
          </a:p>
        </p:txBody>
      </p:sp>
      <p:sp>
        <p:nvSpPr>
          <p:cNvPr id="30" name="body-text-30"/>
          <p:cNvSpPr txBox="1"/>
          <p:nvPr/>
        </p:nvSpPr>
        <p:spPr>
          <a:xfrm>
            <a:off x="3630168" y="4279392"/>
            <a:ext cx="466344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4F7FC"/>
                </a:solidFill>
                <a:latin typeface="Arial"/>
              </a:defRPr>
            </a:pPr>
            <a:r>
              <a:t>✓ Concentration limit</a:t>
            </a:r>
          </a:p>
        </p:txBody>
      </p:sp>
      <p:sp>
        <p:nvSpPr>
          <p:cNvPr id="31" name="body-text-31"/>
          <p:cNvSpPr txBox="1"/>
          <p:nvPr/>
        </p:nvSpPr>
        <p:spPr>
          <a:xfrm>
            <a:off x="3630168" y="4636008"/>
            <a:ext cx="466344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4F7FC"/>
                </a:solidFill>
                <a:latin typeface="Arial"/>
              </a:defRPr>
            </a:pPr>
            <a:r>
              <a:t>✓ Decision freshness</a:t>
            </a:r>
          </a:p>
        </p:txBody>
      </p:sp>
      <p:sp>
        <p:nvSpPr>
          <p:cNvPr id="32" name="body-text-32"/>
          <p:cNvSpPr txBox="1"/>
          <p:nvPr/>
        </p:nvSpPr>
        <p:spPr>
          <a:xfrm>
            <a:off x="3630168" y="4992624"/>
            <a:ext cx="466344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4F7FC"/>
                </a:solidFill>
                <a:latin typeface="Arial"/>
              </a:defRPr>
            </a:pPr>
            <a:r>
              <a:t>✓ live_execution_enabled = false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540496" y="3703320"/>
            <a:ext cx="420624" cy="0"/>
          </a:xfrm>
          <a:prstGeom prst="line">
            <a:avLst/>
          </a:prstGeom>
          <a:ln w="21590">
            <a:solidFill>
              <a:srgbClr val="6DE5C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body-text-34"/>
          <p:cNvSpPr txBox="1"/>
          <p:nvPr/>
        </p:nvSpPr>
        <p:spPr>
          <a:xfrm>
            <a:off x="9116568" y="2487168"/>
            <a:ext cx="240487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B1C0D4"/>
                </a:solidFill>
                <a:latin typeface="Arial"/>
              </a:defRPr>
            </a:pPr>
            <a:r>
              <a:t>EXECUTION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25128" y="3127248"/>
            <a:ext cx="2660904" cy="914400"/>
          </a:xfrm>
          <a:prstGeom prst="roundRect">
            <a:avLst>
              <a:gd name="adj" fmla="val 12000"/>
            </a:avLst>
          </a:prstGeom>
          <a:solidFill>
            <a:srgbClr val="142137"/>
          </a:solidFill>
          <a:ln w="15875">
            <a:solidFill>
              <a:srgbClr val="6DE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body-text-36"/>
          <p:cNvSpPr txBox="1"/>
          <p:nvPr/>
        </p:nvSpPr>
        <p:spPr>
          <a:xfrm>
            <a:off x="9089136" y="3145536"/>
            <a:ext cx="2532888" cy="8778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6DE5C1"/>
                </a:solidFill>
                <a:latin typeface="Arial"/>
              </a:defRPr>
            </a:pPr>
            <a:r>
              <a:t>DRY RUN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6DE5C1"/>
                </a:solidFill>
                <a:latin typeface="Arial"/>
              </a:defRPr>
            </a:pPr>
            <a:r>
              <a:t>ADAPTER</a:t>
            </a:r>
          </a:p>
        </p:txBody>
      </p:sp>
      <p:sp>
        <p:nvSpPr>
          <p:cNvPr id="37" name="body-text-37"/>
          <p:cNvSpPr txBox="1"/>
          <p:nvPr/>
        </p:nvSpPr>
        <p:spPr>
          <a:xfrm>
            <a:off x="9125712" y="4507992"/>
            <a:ext cx="239572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B1C0D4"/>
                </a:solidFill>
                <a:latin typeface="Arial"/>
              </a:defRPr>
            </a:pPr>
            <a:r>
              <a:t>Robinhood</a:t>
            </a:r>
          </a:p>
        </p:txBody>
      </p:sp>
      <p:sp>
        <p:nvSpPr>
          <p:cNvPr id="38" name="body-text-38"/>
          <p:cNvSpPr txBox="1"/>
          <p:nvPr/>
        </p:nvSpPr>
        <p:spPr>
          <a:xfrm>
            <a:off x="9125712" y="4992624"/>
            <a:ext cx="2395728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5C978"/>
                </a:solidFill>
                <a:latin typeface="Arial"/>
              </a:defRPr>
            </a:pPr>
            <a:r>
              <a:t>DISCONNECTED</a:t>
            </a:r>
          </a:p>
        </p:txBody>
      </p:sp>
      <p:sp>
        <p:nvSpPr>
          <p:cNvPr id="39" name="body-text-39"/>
          <p:cNvSpPr txBox="1"/>
          <p:nvPr/>
        </p:nvSpPr>
        <p:spPr>
          <a:xfrm>
            <a:off x="502920" y="5715000"/>
            <a:ext cx="11183112" cy="4480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6DE5C1"/>
                </a:solidFill>
                <a:latin typeface="Arial"/>
              </a:defRPr>
            </a:pPr>
            <a:r>
              <a:t>Agents propose. RiskGate authorizes.</a:t>
            </a:r>
          </a:p>
        </p:txBody>
      </p:sp>
      <p:sp>
        <p:nvSpPr>
          <p:cNvPr id="40" name="metadata-text-40"/>
          <p:cNvSpPr txBox="1"/>
          <p:nvPr/>
        </p:nvSpPr>
        <p:spPr>
          <a:xfrm>
            <a:off x="502920" y="6227064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1C0D4"/>
                </a:solidFill>
                <a:latin typeface="Arial"/>
              </a:defRPr>
            </a:pPr>
            <a:r>
              <a:t>One BUY / supplied demo state. No broker reconciliation.</a:t>
            </a:r>
          </a:p>
        </p:txBody>
      </p:sp>
      <p:sp>
        <p:nvSpPr>
          <p:cNvPr id="41" name="metadata-text-41"/>
          <p:cNvSpPr txBox="1"/>
          <p:nvPr/>
        </p:nvSpPr>
        <p:spPr>
          <a:xfrm>
            <a:off x="6949440" y="6227064"/>
            <a:ext cx="47365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1C0D4"/>
                </a:solidFill>
                <a:latin typeface="Arial"/>
              </a:defRPr>
            </a:pPr>
            <a:r>
              <a:t>Future design: credentials stay outside research agents.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etadata-text-2"/>
          <p:cNvSpPr txBox="1"/>
          <p:nvPr/>
        </p:nvSpPr>
        <p:spPr>
          <a:xfrm>
            <a:off x="502920" y="2468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DE5C1"/>
                </a:solidFill>
                <a:latin typeface="Arial"/>
              </a:defRPr>
            </a:pPr>
            <a:r>
              <a:t>AQL / DIVISION OF RESPONSIBILITY</a:t>
            </a:r>
          </a:p>
        </p:txBody>
      </p:sp>
      <p:sp>
        <p:nvSpPr>
          <p:cNvPr id="3" name="body-text-3"/>
          <p:cNvSpPr txBox="1"/>
          <p:nvPr/>
        </p:nvSpPr>
        <p:spPr>
          <a:xfrm>
            <a:off x="502920" y="731520"/>
            <a:ext cx="11183112" cy="1024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F4F7FC"/>
                </a:solidFill>
                <a:latin typeface="Arial"/>
              </a:defRPr>
            </a:pPr>
            <a:r>
              <a:t>Where AI actually adds value</a:t>
            </a:r>
          </a:p>
        </p:txBody>
      </p:sp>
      <p:sp>
        <p:nvSpPr>
          <p:cNvPr id="4" name="metadata-text-4"/>
          <p:cNvSpPr txBox="1"/>
          <p:nvPr/>
        </p:nvSpPr>
        <p:spPr>
          <a:xfrm>
            <a:off x="502920" y="6464808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1C0D4"/>
                </a:solidFill>
                <a:latin typeface="Arial"/>
              </a:defRPr>
            </a:pPr>
            <a:r>
              <a:t>AGENTIC QUANT LAB</a:t>
            </a:r>
          </a:p>
        </p:txBody>
      </p:sp>
      <p:sp>
        <p:nvSpPr>
          <p:cNvPr id="5" name="metadata-text-5"/>
          <p:cNvSpPr txBox="1"/>
          <p:nvPr/>
        </p:nvSpPr>
        <p:spPr>
          <a:xfrm>
            <a:off x="10698480" y="6446520"/>
            <a:ext cx="98755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1C0D4"/>
                </a:solidFill>
                <a:latin typeface="Arial"/>
              </a:defRPr>
            </a:pPr>
            <a:r>
              <a:t>09 / 11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739128"/>
            <a:ext cx="955547" cy="22860"/>
          </a:xfrm>
          <a:prstGeom prst="rect">
            <a:avLst/>
          </a:prstGeom>
          <a:solidFill>
            <a:srgbClr val="6DE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522476" y="6739128"/>
            <a:ext cx="955547" cy="22860"/>
          </a:xfrm>
          <a:prstGeom prst="rect">
            <a:avLst/>
          </a:prstGeom>
          <a:solidFill>
            <a:srgbClr val="6DE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42032" y="6739128"/>
            <a:ext cx="955547" cy="22860"/>
          </a:xfrm>
          <a:prstGeom prst="rect">
            <a:avLst/>
          </a:prstGeom>
          <a:solidFill>
            <a:srgbClr val="6DE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61587" y="6739128"/>
            <a:ext cx="955547" cy="22860"/>
          </a:xfrm>
          <a:prstGeom prst="rect">
            <a:avLst/>
          </a:prstGeom>
          <a:solidFill>
            <a:srgbClr val="6DE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81144" y="6739128"/>
            <a:ext cx="955547" cy="22860"/>
          </a:xfrm>
          <a:prstGeom prst="rect">
            <a:avLst/>
          </a:prstGeom>
          <a:solidFill>
            <a:srgbClr val="6DE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00700" y="6739128"/>
            <a:ext cx="955547" cy="22860"/>
          </a:xfrm>
          <a:prstGeom prst="rect">
            <a:avLst/>
          </a:prstGeom>
          <a:solidFill>
            <a:srgbClr val="6DE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20255" y="6739128"/>
            <a:ext cx="955547" cy="22860"/>
          </a:xfrm>
          <a:prstGeom prst="rect">
            <a:avLst/>
          </a:prstGeom>
          <a:solidFill>
            <a:srgbClr val="6DE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639812" y="6739128"/>
            <a:ext cx="955547" cy="22860"/>
          </a:xfrm>
          <a:prstGeom prst="rect">
            <a:avLst/>
          </a:prstGeom>
          <a:solidFill>
            <a:srgbClr val="6DE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659368" y="6739128"/>
            <a:ext cx="955547" cy="22860"/>
          </a:xfrm>
          <a:prstGeom prst="rect">
            <a:avLst/>
          </a:prstGeom>
          <a:solidFill>
            <a:srgbClr val="6DE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678924" y="6739128"/>
            <a:ext cx="955547" cy="22860"/>
          </a:xfrm>
          <a:prstGeom prst="rect">
            <a:avLst/>
          </a:prstGeom>
          <a:solidFill>
            <a:srgbClr val="344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698480" y="6739128"/>
            <a:ext cx="955547" cy="22860"/>
          </a:xfrm>
          <a:prstGeom prst="rect">
            <a:avLst/>
          </a:prstGeom>
          <a:solidFill>
            <a:srgbClr val="344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920" y="1956816"/>
            <a:ext cx="5422392" cy="3319272"/>
          </a:xfrm>
          <a:prstGeom prst="roundRect">
            <a:avLst>
              <a:gd name="adj" fmla="val 12000"/>
            </a:avLst>
          </a:prstGeom>
          <a:solidFill>
            <a:srgbClr val="142137"/>
          </a:solidFill>
          <a:ln w="15875">
            <a:solidFill>
              <a:srgbClr val="344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ody-text-18"/>
          <p:cNvSpPr txBox="1"/>
          <p:nvPr/>
        </p:nvSpPr>
        <p:spPr>
          <a:xfrm>
            <a:off x="731520" y="2185416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B9A3FF"/>
                </a:solidFill>
                <a:latin typeface="Arial"/>
              </a:defRPr>
            </a:pPr>
            <a:r>
              <a:t>AGENT / TARGET CAPABILITIES</a:t>
            </a:r>
          </a:p>
        </p:txBody>
      </p:sp>
      <p:sp>
        <p:nvSpPr>
          <p:cNvPr id="19" name="body-text-19"/>
          <p:cNvSpPr txBox="1"/>
          <p:nvPr/>
        </p:nvSpPr>
        <p:spPr>
          <a:xfrm>
            <a:off x="731520" y="2779776"/>
            <a:ext cx="493776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F4F7FC"/>
                </a:solidFill>
                <a:latin typeface="Arial"/>
              </a:defRPr>
            </a:pPr>
            <a:r>
              <a:t>Read research</a:t>
            </a:r>
          </a:p>
        </p:txBody>
      </p:sp>
      <p:sp>
        <p:nvSpPr>
          <p:cNvPr id="20" name="body-text-20"/>
          <p:cNvSpPr txBox="1"/>
          <p:nvPr/>
        </p:nvSpPr>
        <p:spPr>
          <a:xfrm>
            <a:off x="731520" y="3154680"/>
            <a:ext cx="493776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F4F7FC"/>
                </a:solidFill>
                <a:latin typeface="Arial"/>
              </a:defRPr>
            </a:pPr>
            <a:r>
              <a:t>Generate hypotheses</a:t>
            </a:r>
          </a:p>
        </p:txBody>
      </p:sp>
      <p:sp>
        <p:nvSpPr>
          <p:cNvPr id="21" name="body-text-21"/>
          <p:cNvSpPr txBox="1"/>
          <p:nvPr/>
        </p:nvSpPr>
        <p:spPr>
          <a:xfrm>
            <a:off x="731520" y="3529584"/>
            <a:ext cx="493776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F4F7FC"/>
                </a:solidFill>
                <a:latin typeface="Arial"/>
              </a:defRPr>
            </a:pPr>
            <a:r>
              <a:t>Find failure regimes</a:t>
            </a:r>
          </a:p>
        </p:txBody>
      </p:sp>
      <p:sp>
        <p:nvSpPr>
          <p:cNvPr id="22" name="body-text-22"/>
          <p:cNvSpPr txBox="1"/>
          <p:nvPr/>
        </p:nvSpPr>
        <p:spPr>
          <a:xfrm>
            <a:off x="731520" y="3904487"/>
            <a:ext cx="493776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F4F7FC"/>
                </a:solidFill>
                <a:latin typeface="Arial"/>
              </a:defRPr>
            </a:pPr>
            <a:r>
              <a:t>Interpret earnings / guidance</a:t>
            </a:r>
          </a:p>
        </p:txBody>
      </p:sp>
      <p:sp>
        <p:nvSpPr>
          <p:cNvPr id="23" name="body-text-23"/>
          <p:cNvSpPr txBox="1"/>
          <p:nvPr/>
        </p:nvSpPr>
        <p:spPr>
          <a:xfrm>
            <a:off x="731520" y="4279392"/>
            <a:ext cx="493776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F4F7FC"/>
                </a:solidFill>
                <a:latin typeface="Arial"/>
              </a:defRPr>
            </a:pPr>
            <a:r>
              <a:t>Propose experiments</a:t>
            </a:r>
          </a:p>
        </p:txBody>
      </p:sp>
      <p:sp>
        <p:nvSpPr>
          <p:cNvPr id="24" name="body-text-24"/>
          <p:cNvSpPr txBox="1"/>
          <p:nvPr/>
        </p:nvSpPr>
        <p:spPr>
          <a:xfrm>
            <a:off x="731520" y="4654296"/>
            <a:ext cx="493776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F4F7FC"/>
                </a:solidFill>
                <a:latin typeface="Arial"/>
              </a:defRPr>
            </a:pPr>
            <a:r>
              <a:t>Investigate degradation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1956816"/>
            <a:ext cx="5422392" cy="3319272"/>
          </a:xfrm>
          <a:prstGeom prst="roundRect">
            <a:avLst>
              <a:gd name="adj" fmla="val 12000"/>
            </a:avLst>
          </a:prstGeom>
          <a:solidFill>
            <a:srgbClr val="142137"/>
          </a:solidFill>
          <a:ln w="15875">
            <a:solidFill>
              <a:srgbClr val="344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ody-text-26"/>
          <p:cNvSpPr txBox="1"/>
          <p:nvPr/>
        </p:nvSpPr>
        <p:spPr>
          <a:xfrm>
            <a:off x="6492240" y="2185416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6DE5C1"/>
                </a:solidFill>
                <a:latin typeface="Arial"/>
              </a:defRPr>
            </a:pPr>
            <a:r>
              <a:t>DETERMINISTIC CODE</a:t>
            </a:r>
          </a:p>
        </p:txBody>
      </p:sp>
      <p:sp>
        <p:nvSpPr>
          <p:cNvPr id="27" name="body-text-27"/>
          <p:cNvSpPr txBox="1"/>
          <p:nvPr/>
        </p:nvSpPr>
        <p:spPr>
          <a:xfrm>
            <a:off x="6492240" y="2779776"/>
            <a:ext cx="493776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F4F7FC"/>
                </a:solidFill>
                <a:latin typeface="Arial"/>
              </a:defRPr>
            </a:pPr>
            <a:r>
              <a:t>Calculate returns</a:t>
            </a:r>
          </a:p>
        </p:txBody>
      </p:sp>
      <p:sp>
        <p:nvSpPr>
          <p:cNvPr id="28" name="body-text-28"/>
          <p:cNvSpPr txBox="1"/>
          <p:nvPr/>
        </p:nvSpPr>
        <p:spPr>
          <a:xfrm>
            <a:off x="6492240" y="3154680"/>
            <a:ext cx="493776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F4F7FC"/>
                </a:solidFill>
                <a:latin typeface="Arial"/>
              </a:defRPr>
            </a:pPr>
            <a:r>
              <a:t>Rank assets</a:t>
            </a:r>
          </a:p>
        </p:txBody>
      </p:sp>
      <p:sp>
        <p:nvSpPr>
          <p:cNvPr id="29" name="body-text-29"/>
          <p:cNvSpPr txBox="1"/>
          <p:nvPr/>
        </p:nvSpPr>
        <p:spPr>
          <a:xfrm>
            <a:off x="6492240" y="3529584"/>
            <a:ext cx="493776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F4F7FC"/>
                </a:solidFill>
                <a:latin typeface="Arial"/>
              </a:defRPr>
            </a:pPr>
            <a:r>
              <a:t>Run backtests + model costs</a:t>
            </a:r>
          </a:p>
        </p:txBody>
      </p:sp>
      <p:sp>
        <p:nvSpPr>
          <p:cNvPr id="30" name="body-text-30"/>
          <p:cNvSpPr txBox="1"/>
          <p:nvPr/>
        </p:nvSpPr>
        <p:spPr>
          <a:xfrm>
            <a:off x="6492240" y="3904487"/>
            <a:ext cx="493776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F4F7FC"/>
                </a:solidFill>
                <a:latin typeface="Arial"/>
              </a:defRPr>
            </a:pPr>
            <a:r>
              <a:t>Allocate capital</a:t>
            </a:r>
          </a:p>
        </p:txBody>
      </p:sp>
      <p:sp>
        <p:nvSpPr>
          <p:cNvPr id="31" name="body-text-31"/>
          <p:cNvSpPr txBox="1"/>
          <p:nvPr/>
        </p:nvSpPr>
        <p:spPr>
          <a:xfrm>
            <a:off x="6492240" y="4279392"/>
            <a:ext cx="493776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F4F7FC"/>
                </a:solidFill>
                <a:latin typeface="Arial"/>
              </a:defRPr>
            </a:pPr>
            <a:r>
              <a:t>Enforce risk limits</a:t>
            </a:r>
          </a:p>
        </p:txBody>
      </p:sp>
      <p:sp>
        <p:nvSpPr>
          <p:cNvPr id="32" name="body-text-32"/>
          <p:cNvSpPr txBox="1"/>
          <p:nvPr/>
        </p:nvSpPr>
        <p:spPr>
          <a:xfrm>
            <a:off x="6492240" y="4654296"/>
            <a:ext cx="493776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F4F7FC"/>
                </a:solidFill>
                <a:latin typeface="Arial"/>
              </a:defRPr>
            </a:pPr>
            <a:r>
              <a:t>Submit orders (future only)</a:t>
            </a:r>
          </a:p>
        </p:txBody>
      </p:sp>
      <p:sp>
        <p:nvSpPr>
          <p:cNvPr id="33" name="body-text-33"/>
          <p:cNvSpPr txBox="1"/>
          <p:nvPr/>
        </p:nvSpPr>
        <p:spPr>
          <a:xfrm>
            <a:off x="502920" y="5513832"/>
            <a:ext cx="562356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3300" b="1">
                <a:solidFill>
                  <a:srgbClr val="B9A3FF"/>
                </a:solidFill>
                <a:latin typeface="Arial"/>
              </a:defRPr>
            </a:pPr>
            <a:r>
              <a:t>Use AI for reasoning.</a:t>
            </a:r>
          </a:p>
        </p:txBody>
      </p:sp>
      <p:sp>
        <p:nvSpPr>
          <p:cNvPr id="34" name="body-text-34"/>
          <p:cNvSpPr txBox="1"/>
          <p:nvPr/>
        </p:nvSpPr>
        <p:spPr>
          <a:xfrm>
            <a:off x="6263640" y="5513832"/>
            <a:ext cx="542239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3300" b="1">
                <a:solidFill>
                  <a:srgbClr val="6DE5C1"/>
                </a:solidFill>
                <a:latin typeface="Arial"/>
              </a:defRPr>
            </a:pPr>
            <a:r>
              <a:t>Use code for truth.</a:t>
            </a:r>
          </a:p>
        </p:txBody>
      </p:sp>
      <p:sp>
        <p:nvSpPr>
          <p:cNvPr id="35" name="metadata-text-35"/>
          <p:cNvSpPr txBox="1"/>
          <p:nvPr/>
        </p:nvSpPr>
        <p:spPr>
          <a:xfrm>
            <a:off x="502920" y="6208776"/>
            <a:ext cx="1118311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1C0D4"/>
                </a:solidFill>
                <a:latin typeface="Arial"/>
              </a:defRPr>
            </a:pPr>
            <a:r>
              <a:t>“Truth” means reproducible calculations, not certainty about markets.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etadata-text-2"/>
          <p:cNvSpPr txBox="1"/>
          <p:nvPr/>
        </p:nvSpPr>
        <p:spPr>
          <a:xfrm>
            <a:off x="502920" y="2468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DE5C1"/>
                </a:solidFill>
                <a:latin typeface="Arial"/>
              </a:defRPr>
            </a:pPr>
            <a:r>
              <a:t>AQL / EVIDENCE BEFORE EXECUTION</a:t>
            </a:r>
          </a:p>
        </p:txBody>
      </p:sp>
      <p:sp>
        <p:nvSpPr>
          <p:cNvPr id="3" name="body-text-3"/>
          <p:cNvSpPr txBox="1"/>
          <p:nvPr/>
        </p:nvSpPr>
        <p:spPr>
          <a:xfrm>
            <a:off x="502920" y="731520"/>
            <a:ext cx="11183112" cy="1024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F4F7FC"/>
                </a:solidFill>
                <a:latin typeface="Arial"/>
              </a:defRPr>
            </a:pPr>
            <a:r>
              <a:t>Roadmap</a:t>
            </a:r>
          </a:p>
        </p:txBody>
      </p:sp>
      <p:sp>
        <p:nvSpPr>
          <p:cNvPr id="4" name="metadata-text-4"/>
          <p:cNvSpPr txBox="1"/>
          <p:nvPr/>
        </p:nvSpPr>
        <p:spPr>
          <a:xfrm>
            <a:off x="502920" y="6464808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1C0D4"/>
                </a:solidFill>
                <a:latin typeface="Arial"/>
              </a:defRPr>
            </a:pPr>
            <a:r>
              <a:t>AGENTIC QUANT LAB</a:t>
            </a:r>
          </a:p>
        </p:txBody>
      </p:sp>
      <p:sp>
        <p:nvSpPr>
          <p:cNvPr id="5" name="metadata-text-5"/>
          <p:cNvSpPr txBox="1"/>
          <p:nvPr/>
        </p:nvSpPr>
        <p:spPr>
          <a:xfrm>
            <a:off x="10698480" y="6446520"/>
            <a:ext cx="98755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1C0D4"/>
                </a:solidFill>
                <a:latin typeface="Arial"/>
              </a:defRPr>
            </a:pPr>
            <a:r>
              <a:t>10 / 11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739128"/>
            <a:ext cx="955547" cy="22860"/>
          </a:xfrm>
          <a:prstGeom prst="rect">
            <a:avLst/>
          </a:prstGeom>
          <a:solidFill>
            <a:srgbClr val="6DE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522476" y="6739128"/>
            <a:ext cx="955547" cy="22860"/>
          </a:xfrm>
          <a:prstGeom prst="rect">
            <a:avLst/>
          </a:prstGeom>
          <a:solidFill>
            <a:srgbClr val="6DE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42032" y="6739128"/>
            <a:ext cx="955547" cy="22860"/>
          </a:xfrm>
          <a:prstGeom prst="rect">
            <a:avLst/>
          </a:prstGeom>
          <a:solidFill>
            <a:srgbClr val="6DE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61587" y="6739128"/>
            <a:ext cx="955547" cy="22860"/>
          </a:xfrm>
          <a:prstGeom prst="rect">
            <a:avLst/>
          </a:prstGeom>
          <a:solidFill>
            <a:srgbClr val="6DE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81144" y="6739128"/>
            <a:ext cx="955547" cy="22860"/>
          </a:xfrm>
          <a:prstGeom prst="rect">
            <a:avLst/>
          </a:prstGeom>
          <a:solidFill>
            <a:srgbClr val="6DE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00700" y="6739128"/>
            <a:ext cx="955547" cy="22860"/>
          </a:xfrm>
          <a:prstGeom prst="rect">
            <a:avLst/>
          </a:prstGeom>
          <a:solidFill>
            <a:srgbClr val="6DE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20255" y="6739128"/>
            <a:ext cx="955547" cy="22860"/>
          </a:xfrm>
          <a:prstGeom prst="rect">
            <a:avLst/>
          </a:prstGeom>
          <a:solidFill>
            <a:srgbClr val="6DE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639812" y="6739128"/>
            <a:ext cx="955547" cy="22860"/>
          </a:xfrm>
          <a:prstGeom prst="rect">
            <a:avLst/>
          </a:prstGeom>
          <a:solidFill>
            <a:srgbClr val="6DE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659368" y="6739128"/>
            <a:ext cx="955547" cy="22860"/>
          </a:xfrm>
          <a:prstGeom prst="rect">
            <a:avLst/>
          </a:prstGeom>
          <a:solidFill>
            <a:srgbClr val="6DE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678924" y="6739128"/>
            <a:ext cx="955547" cy="22860"/>
          </a:xfrm>
          <a:prstGeom prst="rect">
            <a:avLst/>
          </a:prstGeom>
          <a:solidFill>
            <a:srgbClr val="6DE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698480" y="6739128"/>
            <a:ext cx="955547" cy="22860"/>
          </a:xfrm>
          <a:prstGeom prst="rect">
            <a:avLst/>
          </a:prstGeom>
          <a:solidFill>
            <a:srgbClr val="344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920" y="2221992"/>
            <a:ext cx="2532888" cy="2880360"/>
          </a:xfrm>
          <a:prstGeom prst="roundRect">
            <a:avLst>
              <a:gd name="adj" fmla="val 12000"/>
            </a:avLst>
          </a:prstGeom>
          <a:solidFill>
            <a:srgbClr val="142137"/>
          </a:solidFill>
          <a:ln w="15875">
            <a:solidFill>
              <a:srgbClr val="6DE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ody-text-18"/>
          <p:cNvSpPr txBox="1"/>
          <p:nvPr/>
        </p:nvSpPr>
        <p:spPr>
          <a:xfrm>
            <a:off x="694944" y="2459736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6DE5C1"/>
                </a:solidFill>
                <a:latin typeface="Arial"/>
              </a:defRPr>
            </a:pPr>
            <a:r>
              <a:t>NOW</a:t>
            </a:r>
          </a:p>
        </p:txBody>
      </p:sp>
      <p:sp>
        <p:nvSpPr>
          <p:cNvPr id="19" name="body-text-19"/>
          <p:cNvSpPr txBox="1"/>
          <p:nvPr/>
        </p:nvSpPr>
        <p:spPr>
          <a:xfrm>
            <a:off x="694944" y="3044952"/>
            <a:ext cx="2148840" cy="1673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500" b="0">
                <a:solidFill>
                  <a:srgbClr val="F4F7FC"/>
                </a:solidFill>
                <a:latin typeface="Arial"/>
              </a:defRPr>
            </a:pPr>
            <a:r>
              <a:t>Research +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500" b="0">
                <a:solidFill>
                  <a:srgbClr val="F4F7FC"/>
                </a:solidFill>
                <a:latin typeface="Arial"/>
              </a:defRPr>
            </a:pPr>
            <a:r>
              <a:t>falsification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500" b="0">
                <a:solidFill>
                  <a:srgbClr val="F4F7FC"/>
                </a:solidFill>
                <a:latin typeface="Arial"/>
              </a:defRPr>
            </a:pPr>
            <a:r>
              <a:t>Offline demo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072384" y="3657600"/>
            <a:ext cx="265176" cy="0"/>
          </a:xfrm>
          <a:prstGeom prst="line">
            <a:avLst/>
          </a:prstGeom>
          <a:ln w="21590">
            <a:solidFill>
              <a:srgbClr val="B1C0D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383280" y="2221992"/>
            <a:ext cx="2532888" cy="2880360"/>
          </a:xfrm>
          <a:prstGeom prst="roundRect">
            <a:avLst>
              <a:gd name="adj" fmla="val 12000"/>
            </a:avLst>
          </a:prstGeom>
          <a:solidFill>
            <a:srgbClr val="142137"/>
          </a:solidFill>
          <a:ln w="15875">
            <a:solidFill>
              <a:srgbClr val="F5C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ody-text-22"/>
          <p:cNvSpPr txBox="1"/>
          <p:nvPr/>
        </p:nvSpPr>
        <p:spPr>
          <a:xfrm>
            <a:off x="3575304" y="2459736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5C978"/>
                </a:solidFill>
                <a:latin typeface="Arial"/>
              </a:defRPr>
            </a:pPr>
            <a:r>
              <a:t>NEXT</a:t>
            </a:r>
          </a:p>
        </p:txBody>
      </p:sp>
      <p:sp>
        <p:nvSpPr>
          <p:cNvPr id="23" name="body-text-23"/>
          <p:cNvSpPr txBox="1"/>
          <p:nvPr/>
        </p:nvSpPr>
        <p:spPr>
          <a:xfrm>
            <a:off x="3575304" y="3044952"/>
            <a:ext cx="2148840" cy="1673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500" b="0">
                <a:solidFill>
                  <a:srgbClr val="F4F7FC"/>
                </a:solidFill>
                <a:latin typeface="Arial"/>
              </a:defRPr>
            </a:pPr>
            <a:r>
              <a:t>Qualified data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500" b="0">
                <a:solidFill>
                  <a:srgbClr val="F4F7FC"/>
                </a:solidFill>
                <a:latin typeface="Arial"/>
              </a:defRPr>
            </a:pPr>
            <a:r>
              <a:t>Paper / shadow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500" b="0">
                <a:solidFill>
                  <a:srgbClr val="F4F7FC"/>
                </a:solidFill>
                <a:latin typeface="Arial"/>
              </a:defRPr>
            </a:pPr>
            <a:r>
              <a:t>trading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52744" y="3657600"/>
            <a:ext cx="265176" cy="0"/>
          </a:xfrm>
          <a:prstGeom prst="line">
            <a:avLst/>
          </a:prstGeom>
          <a:ln w="21590">
            <a:solidFill>
              <a:srgbClr val="B1C0D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263640" y="2221992"/>
            <a:ext cx="2532888" cy="2880360"/>
          </a:xfrm>
          <a:prstGeom prst="roundRect">
            <a:avLst>
              <a:gd name="adj" fmla="val 12000"/>
            </a:avLst>
          </a:prstGeom>
          <a:solidFill>
            <a:srgbClr val="142137"/>
          </a:solidFill>
          <a:ln w="15875">
            <a:solidFill>
              <a:srgbClr val="B1C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ody-text-26"/>
          <p:cNvSpPr txBox="1"/>
          <p:nvPr/>
        </p:nvSpPr>
        <p:spPr>
          <a:xfrm>
            <a:off x="6455664" y="2459736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B1C0D4"/>
                </a:solidFill>
                <a:latin typeface="Arial"/>
              </a:defRPr>
            </a:pPr>
            <a:r>
              <a:t>THEN</a:t>
            </a:r>
          </a:p>
        </p:txBody>
      </p:sp>
      <p:sp>
        <p:nvSpPr>
          <p:cNvPr id="27" name="body-text-27"/>
          <p:cNvSpPr txBox="1"/>
          <p:nvPr/>
        </p:nvSpPr>
        <p:spPr>
          <a:xfrm>
            <a:off x="6455664" y="3044952"/>
            <a:ext cx="2148840" cy="1673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500" b="0">
                <a:solidFill>
                  <a:srgbClr val="F4F7FC"/>
                </a:solidFill>
                <a:latin typeface="Arial"/>
              </a:defRPr>
            </a:pPr>
            <a:r>
              <a:t>Agent-driven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500" b="0">
                <a:solidFill>
                  <a:srgbClr val="F4F7FC"/>
                </a:solidFill>
                <a:latin typeface="Arial"/>
              </a:defRPr>
            </a:pPr>
            <a:r>
              <a:t>experiment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500" b="0">
                <a:solidFill>
                  <a:srgbClr val="F4F7FC"/>
                </a:solidFill>
                <a:latin typeface="Arial"/>
              </a:defRPr>
            </a:pPr>
            <a:r>
              <a:t>generation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833104" y="3657600"/>
            <a:ext cx="265176" cy="0"/>
          </a:xfrm>
          <a:prstGeom prst="line">
            <a:avLst/>
          </a:prstGeom>
          <a:ln w="21590">
            <a:solidFill>
              <a:srgbClr val="B1C0D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144000" y="2221992"/>
            <a:ext cx="2532888" cy="2880360"/>
          </a:xfrm>
          <a:prstGeom prst="roundRect">
            <a:avLst>
              <a:gd name="adj" fmla="val 12000"/>
            </a:avLst>
          </a:prstGeom>
          <a:solidFill>
            <a:srgbClr val="142137"/>
          </a:solidFill>
          <a:ln w="15875">
            <a:solidFill>
              <a:srgbClr val="B1C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body-text-30"/>
          <p:cNvSpPr txBox="1"/>
          <p:nvPr/>
        </p:nvSpPr>
        <p:spPr>
          <a:xfrm>
            <a:off x="9336024" y="2459736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B1C0D4"/>
                </a:solidFill>
                <a:latin typeface="Arial"/>
              </a:defRPr>
            </a:pPr>
            <a:r>
              <a:t>FINALLY</a:t>
            </a:r>
          </a:p>
        </p:txBody>
      </p:sp>
      <p:sp>
        <p:nvSpPr>
          <p:cNvPr id="31" name="body-text-31"/>
          <p:cNvSpPr txBox="1"/>
          <p:nvPr/>
        </p:nvSpPr>
        <p:spPr>
          <a:xfrm>
            <a:off x="9336024" y="3044952"/>
            <a:ext cx="2148840" cy="1673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500" b="0">
                <a:solidFill>
                  <a:srgbClr val="F4F7FC"/>
                </a:solidFill>
                <a:latin typeface="Arial"/>
              </a:defRPr>
            </a:pPr>
            <a:r>
              <a:t>Risk-controlled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500" b="0">
                <a:solidFill>
                  <a:srgbClr val="F4F7FC"/>
                </a:solidFill>
                <a:latin typeface="Arial"/>
              </a:defRPr>
            </a:pPr>
            <a:r>
              <a:t>Robinhood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500" b="0">
                <a:solidFill>
                  <a:srgbClr val="F4F7FC"/>
                </a:solidFill>
                <a:latin typeface="Arial"/>
              </a:defRPr>
            </a:pPr>
            <a:r>
              <a:t>execution</a:t>
            </a:r>
          </a:p>
        </p:txBody>
      </p:sp>
      <p:sp>
        <p:nvSpPr>
          <p:cNvPr id="32" name="body-text-32"/>
          <p:cNvSpPr txBox="1"/>
          <p:nvPr/>
        </p:nvSpPr>
        <p:spPr>
          <a:xfrm>
            <a:off x="502920" y="5513832"/>
            <a:ext cx="1118311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6DE5C1"/>
                </a:solidFill>
                <a:latin typeface="Arial"/>
              </a:defRPr>
            </a:pPr>
            <a:r>
              <a:t>LIVE TRADING DISABLED TODAY</a:t>
            </a:r>
          </a:p>
        </p:txBody>
      </p:sp>
      <p:sp>
        <p:nvSpPr>
          <p:cNvPr id="33" name="metadata-text-33"/>
          <p:cNvSpPr txBox="1"/>
          <p:nvPr/>
        </p:nvSpPr>
        <p:spPr>
          <a:xfrm>
            <a:off x="502920" y="6199632"/>
            <a:ext cx="11183112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B1C0D4"/>
                </a:solidFill>
                <a:latin typeface="Arial"/>
              </a:defRPr>
            </a:pPr>
            <a:r>
              <a:t>Promotion requires evidence, not a better story.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etadata-text-2"/>
          <p:cNvSpPr txBox="1"/>
          <p:nvPr/>
        </p:nvSpPr>
        <p:spPr>
          <a:xfrm>
            <a:off x="502920" y="2468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DE5C1"/>
                </a:solidFill>
                <a:latin typeface="Arial"/>
              </a:defRPr>
            </a:pPr>
            <a:r>
              <a:t>AQL / THE TAKEAWAY</a:t>
            </a:r>
          </a:p>
        </p:txBody>
      </p:sp>
      <p:sp>
        <p:nvSpPr>
          <p:cNvPr id="3" name="metadata-text-3"/>
          <p:cNvSpPr txBox="1"/>
          <p:nvPr/>
        </p:nvSpPr>
        <p:spPr>
          <a:xfrm>
            <a:off x="502920" y="6464808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1C0D4"/>
                </a:solidFill>
                <a:latin typeface="Arial"/>
              </a:defRPr>
            </a:pPr>
            <a:r>
              <a:t>AGENTIC QUANT LAB</a:t>
            </a:r>
          </a:p>
        </p:txBody>
      </p:sp>
      <p:sp>
        <p:nvSpPr>
          <p:cNvPr id="4" name="metadata-text-4"/>
          <p:cNvSpPr txBox="1"/>
          <p:nvPr/>
        </p:nvSpPr>
        <p:spPr>
          <a:xfrm>
            <a:off x="10698480" y="6446520"/>
            <a:ext cx="98755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1C0D4"/>
                </a:solidFill>
                <a:latin typeface="Arial"/>
              </a:defRPr>
            </a:pPr>
            <a:r>
              <a:t>11 /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739128"/>
            <a:ext cx="955547" cy="22860"/>
          </a:xfrm>
          <a:prstGeom prst="rect">
            <a:avLst/>
          </a:prstGeom>
          <a:solidFill>
            <a:srgbClr val="6DE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22476" y="6739128"/>
            <a:ext cx="955547" cy="22860"/>
          </a:xfrm>
          <a:prstGeom prst="rect">
            <a:avLst/>
          </a:prstGeom>
          <a:solidFill>
            <a:srgbClr val="6DE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42032" y="6739128"/>
            <a:ext cx="955547" cy="22860"/>
          </a:xfrm>
          <a:prstGeom prst="rect">
            <a:avLst/>
          </a:prstGeom>
          <a:solidFill>
            <a:srgbClr val="6DE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561587" y="6739128"/>
            <a:ext cx="955547" cy="22860"/>
          </a:xfrm>
          <a:prstGeom prst="rect">
            <a:avLst/>
          </a:prstGeom>
          <a:solidFill>
            <a:srgbClr val="6DE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81144" y="6739128"/>
            <a:ext cx="955547" cy="22860"/>
          </a:xfrm>
          <a:prstGeom prst="rect">
            <a:avLst/>
          </a:prstGeom>
          <a:solidFill>
            <a:srgbClr val="6DE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00700" y="6739128"/>
            <a:ext cx="955547" cy="22860"/>
          </a:xfrm>
          <a:prstGeom prst="rect">
            <a:avLst/>
          </a:prstGeom>
          <a:solidFill>
            <a:srgbClr val="6DE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620255" y="6739128"/>
            <a:ext cx="955547" cy="22860"/>
          </a:xfrm>
          <a:prstGeom prst="rect">
            <a:avLst/>
          </a:prstGeom>
          <a:solidFill>
            <a:srgbClr val="6DE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39812" y="6739128"/>
            <a:ext cx="955547" cy="22860"/>
          </a:xfrm>
          <a:prstGeom prst="rect">
            <a:avLst/>
          </a:prstGeom>
          <a:solidFill>
            <a:srgbClr val="6DE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59368" y="6739128"/>
            <a:ext cx="955547" cy="22860"/>
          </a:xfrm>
          <a:prstGeom prst="rect">
            <a:avLst/>
          </a:prstGeom>
          <a:solidFill>
            <a:srgbClr val="6DE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78924" y="6739128"/>
            <a:ext cx="955547" cy="22860"/>
          </a:xfrm>
          <a:prstGeom prst="rect">
            <a:avLst/>
          </a:prstGeom>
          <a:solidFill>
            <a:srgbClr val="6DE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98480" y="6739128"/>
            <a:ext cx="955547" cy="22860"/>
          </a:xfrm>
          <a:prstGeom prst="rect">
            <a:avLst/>
          </a:prstGeom>
          <a:solidFill>
            <a:srgbClr val="6DE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body-text-16"/>
          <p:cNvSpPr txBox="1"/>
          <p:nvPr/>
        </p:nvSpPr>
        <p:spPr>
          <a:xfrm>
            <a:off x="502920" y="1197864"/>
            <a:ext cx="1118311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3000" b="0">
                <a:solidFill>
                  <a:srgbClr val="B1C0D4"/>
                </a:solidFill>
                <a:latin typeface="Arial"/>
              </a:defRPr>
            </a:pPr>
            <a:r>
              <a:t>The goal isn’t an AI that trades more.</a:t>
            </a:r>
          </a:p>
        </p:txBody>
      </p:sp>
      <p:sp>
        <p:nvSpPr>
          <p:cNvPr id="17" name="body-text-17"/>
          <p:cNvSpPr txBox="1"/>
          <p:nvPr/>
        </p:nvSpPr>
        <p:spPr>
          <a:xfrm>
            <a:off x="502920" y="2130552"/>
            <a:ext cx="11183112" cy="8138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5300" b="1">
                <a:solidFill>
                  <a:srgbClr val="F4F7FC"/>
                </a:solidFill>
                <a:latin typeface="Arial"/>
              </a:defRPr>
            </a:pPr>
            <a:r>
              <a:t>It’s an AI that knows</a:t>
            </a:r>
          </a:p>
        </p:txBody>
      </p:sp>
      <p:sp>
        <p:nvSpPr>
          <p:cNvPr id="18" name="body-text-18"/>
          <p:cNvSpPr txBox="1"/>
          <p:nvPr/>
        </p:nvSpPr>
        <p:spPr>
          <a:xfrm>
            <a:off x="502920" y="3054096"/>
            <a:ext cx="11183112" cy="8869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6000" b="1">
                <a:solidFill>
                  <a:srgbClr val="6DE5C1"/>
                </a:solidFill>
                <a:latin typeface="Arial"/>
              </a:defRPr>
            </a:pPr>
            <a:r>
              <a:t>when NOT to trade.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800600"/>
            <a:ext cx="2542032" cy="438912"/>
          </a:xfrm>
          <a:prstGeom prst="roundRect">
            <a:avLst>
              <a:gd name="adj" fmla="val 12000"/>
            </a:avLst>
          </a:prstGeom>
          <a:solidFill>
            <a:srgbClr val="142137"/>
          </a:solidFill>
          <a:ln w="15875">
            <a:solidFill>
              <a:srgbClr val="6DE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ody-text-20"/>
          <p:cNvSpPr txBox="1"/>
          <p:nvPr/>
        </p:nvSpPr>
        <p:spPr>
          <a:xfrm>
            <a:off x="585216" y="4809744"/>
            <a:ext cx="2377439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6DE5C1"/>
                </a:solidFill>
                <a:latin typeface="Arial"/>
              </a:defRPr>
            </a:pPr>
            <a:r>
              <a:t>RESEARCH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83280" y="4800600"/>
            <a:ext cx="2542032" cy="438912"/>
          </a:xfrm>
          <a:prstGeom prst="roundRect">
            <a:avLst>
              <a:gd name="adj" fmla="val 12000"/>
            </a:avLst>
          </a:prstGeom>
          <a:solidFill>
            <a:srgbClr val="142137"/>
          </a:solidFill>
          <a:ln w="15875">
            <a:solidFill>
              <a:srgbClr val="6DE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ody-text-22"/>
          <p:cNvSpPr txBox="1"/>
          <p:nvPr/>
        </p:nvSpPr>
        <p:spPr>
          <a:xfrm>
            <a:off x="3465576" y="4809744"/>
            <a:ext cx="2377439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6DE5C1"/>
                </a:solidFill>
                <a:latin typeface="Arial"/>
              </a:defRPr>
            </a:pPr>
            <a:r>
              <a:t>EVIDENCE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4800600"/>
            <a:ext cx="2542032" cy="438912"/>
          </a:xfrm>
          <a:prstGeom prst="roundRect">
            <a:avLst>
              <a:gd name="adj" fmla="val 12000"/>
            </a:avLst>
          </a:prstGeom>
          <a:solidFill>
            <a:srgbClr val="142137"/>
          </a:solidFill>
          <a:ln w="15875">
            <a:solidFill>
              <a:srgbClr val="6DE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body-text-24"/>
          <p:cNvSpPr txBox="1"/>
          <p:nvPr/>
        </p:nvSpPr>
        <p:spPr>
          <a:xfrm>
            <a:off x="6345936" y="4809744"/>
            <a:ext cx="2377439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6DE5C1"/>
                </a:solidFill>
                <a:latin typeface="Arial"/>
              </a:defRPr>
            </a:pPr>
            <a:r>
              <a:t>FALSIFICATION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0" y="4800600"/>
            <a:ext cx="2542032" cy="438912"/>
          </a:xfrm>
          <a:prstGeom prst="roundRect">
            <a:avLst>
              <a:gd name="adj" fmla="val 12000"/>
            </a:avLst>
          </a:prstGeom>
          <a:solidFill>
            <a:srgbClr val="142137"/>
          </a:solidFill>
          <a:ln w="15875">
            <a:solidFill>
              <a:srgbClr val="6DE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ody-text-26"/>
          <p:cNvSpPr txBox="1"/>
          <p:nvPr/>
        </p:nvSpPr>
        <p:spPr>
          <a:xfrm>
            <a:off x="9226296" y="4809744"/>
            <a:ext cx="2377439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6DE5C1"/>
                </a:solidFill>
                <a:latin typeface="Arial"/>
              </a:defRPr>
            </a:pPr>
            <a:r>
              <a:t>RISK</a:t>
            </a:r>
          </a:p>
        </p:txBody>
      </p:sp>
      <p:sp>
        <p:nvSpPr>
          <p:cNvPr id="27" name="body-text-27"/>
          <p:cNvSpPr txBox="1"/>
          <p:nvPr/>
        </p:nvSpPr>
        <p:spPr>
          <a:xfrm>
            <a:off x="502920" y="5641848"/>
            <a:ext cx="47548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4F7FC"/>
                </a:solidFill>
                <a:latin typeface="Arial"/>
              </a:defRPr>
            </a:pPr>
            <a:r>
              <a:t>Agentic Quant Lab</a:t>
            </a:r>
          </a:p>
        </p:txBody>
      </p:sp>
      <p:sp>
        <p:nvSpPr>
          <p:cNvPr id="28" name="body-text-28"/>
          <p:cNvSpPr txBox="1"/>
          <p:nvPr/>
        </p:nvSpPr>
        <p:spPr>
          <a:xfrm>
            <a:off x="5852160" y="5705856"/>
            <a:ext cx="583387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B1C0D4"/>
                </a:solidFill>
                <a:latin typeface="Arial"/>
              </a:defRPr>
            </a:pPr>
            <a:r>
              <a:t>github.com/BruceGK/agentic-quant-lab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Quant Lab</dc:title>
  <dc:subject>Evidence-first research; synthetic offline demonstration</dc:subject>
  <dc:creator>Agentic Quant Lab</dc:creator>
  <cp:keywords>research, evidence, falsification, risk, dry run</cp:keywords>
  <dc:description>generated using python-pptx</dc:description>
  <cp:lastModifiedBy>Steve Canny</cp:lastModifiedBy>
  <cp:revision>1</cp:revision>
  <dcterms:created xsi:type="dcterms:W3CDTF">2026-09-18T00:00:00Z</dcterms:created>
  <dcterms:modified xsi:type="dcterms:W3CDTF">2026-09-18T00:00:00Z</dcterms:modified>
  <cp:category/>
</cp:coreProperties>
</file>