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0:25 · 0:00–0:25</a:t>
            </a:r>
          </a:p>
          <a:p/>
          <a:p>
            <a:r>
              <a:t>### Goal</a:t>
            </a:r>
          </a:p>
          <a:p/>
          <a:p>
            <a:r>
              <a:t>Establish the contrarian premise: restraint is a product capability.</a:t>
            </a:r>
          </a:p>
          <a:p/>
          <a:p>
            <a:r>
              <a:t>### Script</a:t>
            </a:r>
          </a:p>
          <a:p/>
          <a:p>
            <a:r>
              <a:t>Most AI trading demos ask a model what to buy. I wanted to build the opposite.</a:t>
            </a:r>
          </a:p>
          <a:p/>
          <a:p>
            <a:r>
              <a:t>Agentic Quant Lab asks whether an idea deserves to survive at all. The vision</a:t>
            </a:r>
          </a:p>
          <a:p>
            <a:r>
              <a:t>is autonomous research, with evidence at every step and firm limits around</a:t>
            </a:r>
          </a:p>
          <a:p>
            <a:r>
              <a:t>capital. Before I show the system, here's the problem it's trying to solve.</a:t>
            </a:r>
          </a:p>
          <a:p/>
          <a:p>
            <a:r>
              <a:t>### Presenter cues — not spoken</a:t>
            </a:r>
          </a:p>
          <a:p/>
          <a:p>
            <a:r>
              <a:t>Pause after the opening. This is a product vision, not a profitable-strategy</a:t>
            </a:r>
          </a:p>
          <a:p>
            <a:r>
              <a:t>claim. Keep the distinction between **VISION**, **DEMO**, and **REAL RESEARCH**</a:t>
            </a:r>
          </a:p>
          <a:p>
            <a:r>
              <a:t>visible throughout.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From AI-generated hypotheses to</a:t>
            </a:r>
          </a:p>
          <a:p>
            <a:r>
              <a:t>evidence-backed trading strategies</a:t>
            </a:r>
          </a:p>
          <a:p>
            <a:r>
              <a:t>Agents research.</a:t>
            </a:r>
          </a:p>
          <a:p>
            <a:r>
              <a:t>Deterministic systems decide.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RISK GATE</a:t>
            </a:r>
          </a:p>
          <a:p>
            <a:r>
              <a:t>DRY RUN</a:t>
            </a:r>
          </a:p>
          <a:p>
            <a:r>
              <a:t>VISION → DISCIPLINED RESEARCH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Oversized two-line title left; four connected blocks right, violet to mint.</a:t>
            </a:r>
          </a:p>
          <a:p>
            <a:r>
              <a:t>Make the research-to-risk progression more prominent than any market symbol.</a:t>
            </a:r>
          </a:p>
          <a:p>
            <a:r>
              <a:t>### Speaker note summary</a:t>
            </a:r>
          </a:p>
          <a:p>
            <a:r>
              <a:t>Open with the opposite of a stock-picking chatbot. Autonomy is the destination;</a:t>
            </a:r>
          </a:p>
          <a:p>
            <a:r>
              <a:t>the existing scripted-agent demo illustrates the boundary, not LLM capability.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0:30 · 0:25–0:55</a:t>
            </a:r>
          </a:p>
          <a:p/>
          <a:p>
            <a:r>
              <a:t>### Goal</a:t>
            </a:r>
          </a:p>
          <a:p/>
          <a:p>
            <a:r>
              <a:t>Replace “Does the story sound convincing?” with “What evidence would disprove it?”</a:t>
            </a:r>
          </a:p>
          <a:p/>
          <a:p>
            <a:r>
              <a:t>### Script</a:t>
            </a:r>
          </a:p>
          <a:p/>
          <a:p>
            <a:r>
              <a:t>A convincing trading story is easy to generate. Knowing whether it works is</a:t>
            </a:r>
          </a:p>
          <a:p>
            <a:r>
              <a:t>much harder.</a:t>
            </a:r>
          </a:p>
          <a:p/>
          <a:p>
            <a:r>
              <a:t>Was tomorrow's information accidentally used today? Did costs erase the edge?</a:t>
            </a:r>
          </a:p>
          <a:p>
            <a:r>
              <a:t>Did we quietly leave out companies that disappeared?</a:t>
            </a:r>
          </a:p>
          <a:p/>
          <a:p>
            <a:r>
              <a:t>A smooth equity curve doesn't answer those questions. I want a system that makes</a:t>
            </a:r>
          </a:p>
          <a:p>
            <a:r>
              <a:t>weak ideas fail visibly, instead of making every idea sound investable. That</a:t>
            </a:r>
          </a:p>
          <a:p>
            <a:r>
              <a:t>requires a different architecture.</a:t>
            </a:r>
          </a:p>
          <a:p/>
          <a:p>
            <a:r>
              <a:t>### Presenter cues — not spoken</a:t>
            </a:r>
          </a:p>
          <a:p/>
          <a:p>
            <a:r>
              <a:t>Let the three questions land. Do not suggest that an LLM can certify data</a:t>
            </a:r>
          </a:p>
          <a:p>
            <a:r>
              <a:t>availability, historical investability, or executable fills.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TYPICAL AI TRADING BOT</a:t>
            </a:r>
          </a:p>
          <a:p>
            <a:r>
              <a:t>LLM</a:t>
            </a:r>
          </a:p>
          <a:p>
            <a:r>
              <a:t>“Bullish”</a:t>
            </a:r>
          </a:p>
          <a:p>
            <a:r>
              <a:t>BUY</a:t>
            </a:r>
          </a:p>
          <a:p>
            <a:r>
              <a:t>AGENTIC QUANT LAB</a:t>
            </a:r>
          </a:p>
          <a:p>
            <a:r>
              <a:t>Hypothesis</a:t>
            </a:r>
          </a:p>
          <a:p>
            <a:r>
              <a:t>Evidence</a:t>
            </a:r>
          </a:p>
          <a:p>
            <a:r>
              <a:t>Falsify</a:t>
            </a:r>
          </a:p>
          <a:p>
            <a:r>
              <a:t>Risk gate</a:t>
            </a:r>
          </a:p>
          <a:p>
            <a:r>
              <a:t>Trade*</a:t>
            </a:r>
          </a:p>
          <a:p>
            <a:r>
              <a:t>Hallucinated reasoning</a:t>
            </a:r>
          </a:p>
          <a:p>
            <a:r>
              <a:t>Backtest overfitting</a:t>
            </a:r>
          </a:p>
          <a:p>
            <a:r>
              <a:t>Look-ahead / bad data</a:t>
            </a:r>
          </a:p>
          <a:p>
            <a:r>
              <a:t>Uncontrolled execution</a:t>
            </a:r>
          </a:p>
          <a:p>
            <a:r>
              <a:t>The hard problem is rejecting bad ideas.</a:t>
            </a:r>
          </a:p>
          <a:p>
            <a:r>
              <a:t>*Future only. Today ends at dry run.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Red-tinted shortcut above a mint evidence pipeline. Four small risk labels under</a:t>
            </a:r>
          </a:p>
          <a:p>
            <a:r>
              <a:t>the comparison. Dominant closing statement, no paragraph.</a:t>
            </a:r>
          </a:p>
          <a:p>
            <a:r>
              <a:t>### Speaker note summary</a:t>
            </a:r>
          </a:p>
          <a:p>
            <a:r>
              <a:t>Fluent reasoning is not evidence; rejection is the core product.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0:40 · 0:55–1:35</a:t>
            </a:r>
          </a:p>
          <a:p/>
          <a:p>
            <a:r>
              <a:t>### Goal</a:t>
            </a:r>
          </a:p>
          <a:p/>
          <a:p>
            <a:r>
              <a:t>Explain the intended reasoning loop and the implemented deterministic boundary.</a:t>
            </a:r>
          </a:p>
          <a:p/>
          <a:p>
            <a:r>
              <a:t>### Script</a:t>
            </a:r>
          </a:p>
          <a:p/>
          <a:p>
            <a:r>
              <a:t>Think of this as two lanes. In the vision, AI reasons about hypotheses and designs</a:t>
            </a:r>
          </a:p>
          <a:p>
            <a:r>
              <a:t>experiments. Deterministic code handles backtesting, scientific controls, the</a:t>
            </a:r>
          </a:p>
          <a:p>
            <a:r>
              <a:t>strategy tournament, portfolio sizing, the RiskGate, and execution. An evidence</a:t>
            </a:r>
          </a:p>
          <a:p>
            <a:r>
              <a:t>and provenance sidecar preserves what went in and what came out.</a:t>
            </a:r>
          </a:p>
          <a:p/>
          <a:p>
            <a:r>
              <a:t>Today, the research agent is a scripted, deterministic stand-in, not an LLM.</a:t>
            </a:r>
          </a:p>
          <a:p>
            <a:r>
              <a:t>The actual research was committed separately; this demo doesn't recreate it.</a:t>
            </a:r>
          </a:p>
          <a:p/>
          <a:p>
            <a:r>
              <a:t>The intended loop learns what to test next without bypassing those rules.</a:t>
            </a:r>
          </a:p>
          <a:p>
            <a:r>
              <a:t>First, it must challenge itself.</a:t>
            </a:r>
          </a:p>
          <a:p/>
          <a:p>
            <a:r>
              <a:t>### Presenter cues — not spoken</a:t>
            </a:r>
          </a:p>
          <a:p/>
          <a:p>
            <a:r>
              <a:t>Trace reasoning → experiment → backtest/controls → tournament → portfolio →</a:t>
            </a:r>
          </a:p>
          <a:p>
            <a:r>
              <a:t>RiskGate → **DRY RUN**. Trace the evidence/provenance sidecar separately:</a:t>
            </a:r>
          </a:p>
          <a:p>
            <a:r>
              <a:t>inputs, configuration, results, hashes, and source reports. It supports</a:t>
            </a:r>
          </a:p>
          <a:p>
            <a:r>
              <a:t>inspection; it is not an alpha validator or a new Phase 0 ledger.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AI / AGENTIC</a:t>
            </a:r>
          </a:p>
          <a:p>
            <a:r>
              <a:t>DETERMINISTIC SYSTEMS</a:t>
            </a:r>
          </a:p>
          <a:p>
            <a:r>
              <a:t>Research Agent</a:t>
            </a:r>
          </a:p>
          <a:p>
            <a:r>
              <a:t>Hypothesis</a:t>
            </a:r>
          </a:p>
          <a:p>
            <a:r>
              <a:t>Experiment</a:t>
            </a:r>
          </a:p>
          <a:p>
            <a:r>
              <a:t>Backtest</a:t>
            </a:r>
          </a:p>
          <a:p>
            <a:r>
              <a:t>Falsification</a:t>
            </a:r>
          </a:p>
          <a:p>
            <a:r>
              <a:t>Tournament</a:t>
            </a:r>
          </a:p>
          <a:p>
            <a:r>
              <a:t>Portfolio</a:t>
            </a:r>
          </a:p>
          <a:p>
            <a:r>
              <a:t>RiskGate</a:t>
            </a:r>
          </a:p>
          <a:p>
            <a:r>
              <a:t>Execution</a:t>
            </a:r>
          </a:p>
          <a:p>
            <a:r>
              <a:t>Robinhood</a:t>
            </a:r>
          </a:p>
          <a:p>
            <a:r>
              <a:t>FUTURE</a:t>
            </a:r>
          </a:p>
          <a:p>
            <a:r>
              <a:t>EVIDENCE / PROVENANCE</a:t>
            </a:r>
          </a:p>
          <a:p>
            <a:r>
              <a:t>Hypotheses · inputs · results · risk decisions</a:t>
            </a:r>
          </a:p>
          <a:p>
            <a:r>
              <a:t>Target architecture. Scripted agent today; demo receipts ≠ Phase 0 ledger.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Violet agent column left. Mint deterministic nodes snake across two rows, with</a:t>
            </a:r>
          </a:p>
          <a:p>
            <a:r>
              <a:t>arrows connecting every stage. Future Robinhood box muted and dashed. Evidence</a:t>
            </a:r>
          </a:p>
          <a:p>
            <a:r>
              <a:t>sidecar joins agent, backtest and risk. Execution is downstream of the gate.</a:t>
            </a:r>
          </a:p>
          <a:p>
            <a:r>
              <a:t>### Speaker note summary</a:t>
            </a:r>
          </a:p>
          <a:p>
            <a:r>
              <a:t>Separate scientific reasoning from numerical authority; distinguish target</a:t>
            </a:r>
          </a:p>
          <a:p>
            <a:r>
              <a:t>autonomy, current deterministic demonstration and future broker integration.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0:35 · 1:35–2:10</a:t>
            </a:r>
          </a:p>
          <a:p/>
          <a:p>
            <a:r>
              <a:t>### Goal</a:t>
            </a:r>
          </a:p>
          <a:p/>
          <a:p>
            <a:r>
              <a:t>Make falsification concrete without presenting toy controls as market validation.</a:t>
            </a:r>
          </a:p>
          <a:p/>
          <a:p>
            <a:r>
              <a:t>### Script</a:t>
            </a:r>
          </a:p>
          <a:p/>
          <a:p>
            <a:r>
              <a:t>The first job is to challenge the idea.</a:t>
            </a:r>
          </a:p>
          <a:p/>
          <a:p>
            <a:r>
              <a:t>A null control asks whether noise looks profitable. Broader research uses random</a:t>
            </a:r>
          </a:p>
          <a:p>
            <a:r>
              <a:t>controls; this demo uses flat data and a no-edge candidate. A planted signal</a:t>
            </a:r>
          </a:p>
          <a:p>
            <a:r>
              <a:t>checks that we recover a known pattern. Leakage checks reject future information</a:t>
            </a:r>
          </a:p>
          <a:p>
            <a:r>
              <a:t>and keep earlier decisions unchanged when future inputs change.</a:t>
            </a:r>
          </a:p>
          <a:p/>
          <a:p>
            <a:r>
              <a:t>These test mechanics, not alpha. Out-of-sample and regime testing are research</a:t>
            </a:r>
          </a:p>
          <a:p>
            <a:r>
              <a:t>requirements, not completed demo proof. Sometimes the right answer comes before</a:t>
            </a:r>
          </a:p>
          <a:p>
            <a:r>
              <a:t>a backtest.</a:t>
            </a:r>
          </a:p>
          <a:p/>
          <a:p>
            <a:r>
              <a:t>### Presenter cues — not spoken</a:t>
            </a:r>
          </a:p>
          <a:p/>
          <a:p>
            <a:r>
              <a:t>The demo also checks deterministic reproduction. Its positive signal is planted,</a:t>
            </a:r>
          </a:p>
          <a:p>
            <a:r>
              <a:t>not discovered. Do not claim this demo ran random-market, out-of-sample, regime,</a:t>
            </a:r>
          </a:p>
          <a:p>
            <a:r>
              <a:t>or real-sector shuffled-rank tests. Historical research has its own disclosed</a:t>
            </a:r>
          </a:p>
          <a:p>
            <a:r>
              <a:t>methods and limitations; retrospective splits are not prospective validation.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NULL CONTROL</a:t>
            </a:r>
          </a:p>
          <a:p>
            <a:r>
              <a:t>No edge?</a:t>
            </a:r>
          </a:p>
          <a:p>
            <a:r>
              <a:t>No alpha.</a:t>
            </a:r>
          </a:p>
          <a:p>
            <a:r>
              <a:t>PLANTED SIGNAL</a:t>
            </a:r>
          </a:p>
          <a:p>
            <a:r>
              <a:t>Known edge?</a:t>
            </a:r>
          </a:p>
          <a:p>
            <a:r>
              <a:t>Recover it.</a:t>
            </a:r>
          </a:p>
          <a:p>
            <a:r>
              <a:t>LEAKAGE TRAP</a:t>
            </a:r>
          </a:p>
          <a:p>
            <a:r>
              <a:t>Future data?</a:t>
            </a:r>
          </a:p>
          <a:p>
            <a:r>
              <a:t>Reject it.</a:t>
            </a:r>
          </a:p>
          <a:p>
            <a:r>
              <a:t>Costs</a:t>
            </a:r>
          </a:p>
          <a:p>
            <a:r>
              <a:t>Out-of-sample</a:t>
            </a:r>
          </a:p>
          <a:p>
            <a:r>
              <a:t>Regime tests</a:t>
            </a:r>
          </a:p>
          <a:p>
            <a:r>
              <a:t>Data provenance</a:t>
            </a:r>
          </a:p>
          <a:p>
            <a:r>
              <a:t>Kill the idea. Don’t prompt-engineer a rescue.</a:t>
            </a:r>
          </a:p>
          <a:p>
            <a:r>
              <a:t>Research requirements, not a claim that the demo validates market alpha.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Three equal cards with large 0, +, and t+1 symbols; risk-oriented amber/red for</a:t>
            </a:r>
          </a:p>
          <a:p>
            <a:r>
              <a:t>leakage. Four controls along the bottom. No unsupported green production badge.</a:t>
            </a:r>
          </a:p>
          <a:p>
            <a:r>
              <a:t>### Speaker note summary</a:t>
            </a:r>
          </a:p>
          <a:p>
            <a:r>
              <a:t>Null includes random controls in the research test suite; live demo uses flat and</a:t>
            </a:r>
          </a:p>
          <a:p>
            <a:r>
              <a:t>no-edge fixtures. Recovering a synthetic edge verifies mechanics, not profitability.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0:35 · 2:10–2:45</a:t>
            </a:r>
          </a:p>
          <a:p/>
          <a:p>
            <a:r>
              <a:t>### Goal</a:t>
            </a:r>
          </a:p>
          <a:p/>
          <a:p>
            <a:r>
              <a:t>Distinguish a negative economic result from an honest data-gate stop.</a:t>
            </a:r>
          </a:p>
          <a:p/>
          <a:p>
            <a:r>
              <a:t>### Script</a:t>
            </a:r>
          </a:p>
          <a:p/>
          <a:p>
            <a:r>
              <a:t>Here's what saying no looks like in the real research.</a:t>
            </a:r>
          </a:p>
          <a:p/>
          <a:p>
            <a:r>
              <a:t>Stock momentum is blocked by historical-universe and delisting evidence. Adding</a:t>
            </a:r>
          </a:p>
          <a:p>
            <a:r>
              <a:t>quality also needs point-in-time fundamentals. Earnings drift is deferred:</a:t>
            </a:r>
          </a:p>
          <a:p>
            <a:r>
              <a:t>the price-based route needs data qualification; historical consensus and</a:t>
            </a:r>
          </a:p>
          <a:p>
            <a:r>
              <a:t>revision variants are blocked.</a:t>
            </a:r>
          </a:p>
          <a:p/>
          <a:p>
            <a:r>
              <a:t>Sector-relative momentum has a frozen protocol, but a network and DNS gate stopped</a:t>
            </a:r>
          </a:p>
          <a:p>
            <a:r>
              <a:t>acquisition. Zero of eighteen scenarios ran. That's missing evidence, not an</a:t>
            </a:r>
          </a:p>
          <a:p>
            <a:r>
              <a:t>economic rejection.</a:t>
            </a:r>
          </a:p>
          <a:p/>
          <a:p>
            <a:r>
              <a:t>Trend got further. Its results were a warning, not a promotion.</a:t>
            </a:r>
          </a:p>
          <a:p/>
          <a:p>
            <a:r>
              <a:t>### Presenter cues — not spoken</a:t>
            </a:r>
          </a:p>
          <a:p/>
          <a:p>
            <a:r>
              <a:t>These are **REAL RESEARCH** statuses, not scores from the synthetic tournament.</a:t>
            </a:r>
          </a:p>
          <a:p/>
          <a:p>
            <a:r>
              <a:t>| Research family | Preserved status and reason |</a:t>
            </a:r>
          </a:p>
          <a:p>
            <a:r>
              <a:t>| --- | --- |</a:t>
            </a:r>
          </a:p>
          <a:p>
            <a:r>
              <a:t>| ETF Trend | **RESEARCH MORE**, near rejection; executable-price verification only; not promoted to paper/shadow. |</a:t>
            </a:r>
          </a:p>
          <a:p>
            <a:r>
              <a:t>| Stock momentum | **RESEARCH-GRADE STOCK TEST CURRENTLY BLOCKED**: historical investable universe, security identity, delistings, and terminal returns remain unqualified. |</a:t>
            </a:r>
          </a:p>
          <a:p>
            <a:r>
              <a:t>| Momentum + quality | Same stock-data blockers, plus original point-in-time filing/fundamental vintages. |</a:t>
            </a:r>
          </a:p>
          <a:p>
            <a:r>
              <a:t>| PEAD / earnings drift | **DEFER PEAD** overall. Price-based and guidance-text routes: **LOW-COST DATA REQUIRED**, not qualified datasets. Consensus-surprise and analyst revisions: **BLOCKED** by historical-vintage requirements. Price-based PEAD does not require consensus. |</a:t>
            </a:r>
          </a:p>
          <a:p>
            <a:r>
              <a:t>| ETF sector-relative / dual momentum | **EXPLORATORY; RESEARCH MORE; DATA ACQUISITION STILL BLOCKED**. Frozen protocol; **0/18 scenarios run** after network/DNS failure. Metrics unavailable, not zero. No economic rejection. |</a:t>
            </a:r>
          </a:p>
          <a:p/>
          <a:p>
            <a:r>
              <a:t>Source: [research-status.md](../docs/research-status.md), with the original</a:t>
            </a:r>
          </a:p>
          <a:p>
            <a:r>
              <a:t>stock, PEAD, and sector reports linked there.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</a:t>
            </a:r>
          </a:p>
          <a:p>
            <a:r>
              <a:t>ETF Trend</a:t>
            </a:r>
          </a:p>
          <a:p>
            <a:r>
              <a:t>RESEARCH MORE</a:t>
            </a:r>
          </a:p>
          <a:p>
            <a:r>
              <a:t>Weak versus static de-risking</a:t>
            </a:r>
          </a:p>
          <a:p>
            <a:r>
              <a:t>Stock Momentum</a:t>
            </a:r>
          </a:p>
          <a:p>
            <a:r>
              <a:t>DATA BLOCKED</a:t>
            </a:r>
          </a:p>
          <a:p>
            <a:r>
              <a:t>Historical universe + delistings</a:t>
            </a:r>
          </a:p>
          <a:p>
            <a:r>
              <a:t>Momentum + Quality</a:t>
            </a:r>
          </a:p>
          <a:p>
            <a:r>
              <a:t>DATA BLOCKED</a:t>
            </a:r>
          </a:p>
          <a:p>
            <a:r>
              <a:t>Stock history + PIT fundamentals</a:t>
            </a:r>
          </a:p>
          <a:p>
            <a:r>
              <a:t>PEAD / Earnings</a:t>
            </a:r>
          </a:p>
          <a:p>
            <a:r>
              <a:t>DEFER</a:t>
            </a:r>
          </a:p>
          <a:p>
            <a:r>
              <a:t>Consensus blocked; price route gated</a:t>
            </a:r>
          </a:p>
          <a:p>
            <a:r>
              <a:t>ETF Relative Momentum</a:t>
            </a:r>
          </a:p>
          <a:p>
            <a:r>
              <a:t>NOT YET TESTED</a:t>
            </a:r>
          </a:p>
          <a:p>
            <a:r>
              <a:t>Frozen protocol; runner DNS blocked</a:t>
            </a:r>
          </a:p>
          <a:p>
            <a:r>
              <a:t>Missing evidence is not an economic rejection.</a:t>
            </a:r>
          </a:p>
          <a:p>
            <a:r>
              <a:t>Phase 0: historical evidence acceptance recorded. No production strategy claimed.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Five horizontal candidate cards. Status chips amber/blue-gray, never a profitable</a:t>
            </a:r>
          </a:p>
          <a:p>
            <a:r>
              <a:t>green strategy. Make missing evidence visibly different from weak observed results.</a:t>
            </a:r>
          </a:p>
          <a:p>
            <a:r>
              <a:t>### Speaker note summary</a:t>
            </a:r>
          </a:p>
          <a:p>
            <a:r>
              <a:t>Trend is not promoted. Do not call all five strategies economically rejected:</a:t>
            </a:r>
          </a:p>
          <a:p>
            <a:r>
              <a:t>stock data is unqualified, PEAD deferred, sector performance not yet computed.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0:45 · 2:45–3:30</a:t>
            </a:r>
          </a:p>
          <a:p/>
          <a:p>
            <a:r>
              <a:t>### Goal</a:t>
            </a:r>
          </a:p>
          <a:p/>
          <a:p>
            <a:r>
              <a:t>Show a real adverse finding and preserve the precise research decision.</a:t>
            </a:r>
          </a:p>
          <a:p/>
          <a:p>
            <a:r>
              <a:t>### Script</a:t>
            </a:r>
          </a:p>
          <a:p/>
          <a:p>
            <a:r>
              <a:t>Trend initially looked promising as a way to step aside during trouble.</a:t>
            </a:r>
          </a:p>
          <a:p>
            <a:r>
              <a:t>The follow-up froze the rules and compared them with simply holding less equity.</a:t>
            </a:r>
          </a:p>
          <a:p/>
          <a:p>
            <a:r>
              <a:t>With Treasury-bill defense and twenty-basis-point one-way costs, Absolute Twelve</a:t>
            </a:r>
          </a:p>
          <a:p>
            <a:r>
              <a:t>matched the static seventy-thirty portfolio's annual growth, but suffered the</a:t>
            </a:r>
          </a:p>
          <a:p>
            <a:r>
              <a:t>full equity drawdown. The moving-average rule did worse. Missed rebounds and</a:t>
            </a:r>
          </a:p>
          <a:p>
            <a:r>
              <a:t>repeated exits consumed the hoped-for protection.</a:t>
            </a:r>
          </a:p>
          <a:p/>
          <a:p>
            <a:r>
              <a:t>The verdict is research more, close to rejection, not promoted. These are</a:t>
            </a:r>
          </a:p>
          <a:p>
            <a:r>
              <a:t>exploratory NAV valuations, not executable closes. Verify the same rules on actual</a:t>
            </a:r>
          </a:p>
          <a:p>
            <a:r>
              <a:t>closes; don't retune them to rescue the story.</a:t>
            </a:r>
          </a:p>
          <a:p/>
          <a:p>
            <a:r>
              <a:t>Now, here's the workflow—not those research results.</a:t>
            </a:r>
          </a:p>
          <a:p/>
          <a:p>
            <a:r>
              <a:t>### Presenter cues — not spoken</a:t>
            </a:r>
          </a:p>
          <a:p/>
          <a:p>
            <a:r>
              <a:t>Point to the static 70/30 comparison; **do not read every number aloud**.</a:t>
            </a:r>
          </a:p>
          <a:p>
            <a:r>
              <a:t>The following is the primary **BIL defensive-asset** comparison at **20 bps</a:t>
            </a:r>
          </a:p>
          <a:p>
            <a:r>
              <a:t>one-way costs**, **2016-01-04–2026-07-31**. Percentages are net CAGR and maximum</a:t>
            </a:r>
          </a:p>
          <a:p>
            <a:r>
              <a:t>drawdown, not synthetic demo returns.</a:t>
            </a:r>
          </a:p>
          <a:p/>
          <a:p>
            <a:r>
              <a:t>| Portfolio | Net CAGR | Maximum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STATIC80: 80% SPY / 20% BIL | 12.53% | -27.33% |</a:t>
            </a:r>
          </a:p>
          <a:p>
            <a:r>
              <a:t>| STATIC70: 70% SPY / 30% BIL | 11.26% | -24.08% |</a:t>
            </a:r>
          </a:p>
          <a:p>
            <a:r>
              <a:t>| ABS12: Absolute12 / BIL | 11.26% | -33.68% |</a:t>
            </a:r>
          </a:p>
          <a:p>
            <a:r>
              <a:t>| SMA10 / BIL | 7.85% | -28.19% |</a:t>
            </a:r>
          </a:p>
          <a:p/>
          <a:p>
            <a:r>
              <a:t>Absolute12 lost relative wealth versus staying in SPY in **4/4** completed</a:t>
            </a:r>
          </a:p>
          <a:p>
            <a:r>
              <a:t>defensive cycles; SMA10 did so in **9/11**. Those are relative opportunity</a:t>
            </a:r>
          </a:p>
          <a:p>
            <a:r>
              <a:t>losses, not necessarily negative absolute account returns. The result does</a:t>
            </a:r>
          </a:p>
          <a:p>
            <a:r>
              <a:t>not justify retuning, promotion, or a universal rejection of trend investing.</a:t>
            </a:r>
          </a:p>
          <a:p>
            <a:r>
              <a:t>If actual-close verification preserves the adverse result, reject these fixed</a:t>
            </a:r>
          </a:p>
          <a:p>
            <a:r>
              <a:t>implementations. Source: [ETF trend validation](../docs/etf-trend-validation.md).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 · EXPLORATORY / NAV-BASED</a:t>
            </a:r>
          </a:p>
          <a:p>
            <a:r>
              <a:t>2016-01-04 → 2026-07-31 · SPY / BIL · 20 bps one-way costs</a:t>
            </a:r>
          </a:p>
          <a:p>
            <a:r>
              <a:t>CAGR ↑</a:t>
            </a:r>
          </a:p>
          <a:p>
            <a:r>
              <a:t>MAX DRAWDOWN ↓ magnitude</a:t>
            </a:r>
          </a:p>
          <a:p>
            <a:r>
              <a:t>Absolute12: no worst-drawdown benefit</a:t>
            </a:r>
          </a:p>
          <a:p>
            <a:r>
              <a:t>SMA10: COVID protection, then missed rebound</a:t>
            </a:r>
          </a:p>
          <a:p>
            <a:r>
              <a:t>Losing defensive cycles: Absolute12 4/4 · SMA10 9/11</a:t>
            </a:r>
          </a:p>
          <a:p>
            <a:r>
              <a:t>Rules stayed frozen. No optimization around the failure.</a:t>
            </a:r>
          </a:p>
          <a:p>
            <a:r>
              <a:t>NAV proxy ≠ executable closes. Not production-ready.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Two aligned horizontal bar panels, one for annualized return and one for drawdown</a:t>
            </a:r>
          </a:p>
          <a:p>
            <a:r>
              <a:t>magnitude. Each begins at zero. Signed drawdown numbers remain negative. Model</a:t>
            </a:r>
          </a:p>
          <a:p>
            <a:r>
              <a:t>labels and numbers are editable text. Display five rows from metrics.csv, selecting</a:t>
            </a:r>
          </a:p>
          <a:p>
            <a:r>
              <a:t>defense=BIL and one_way_cost_bps=20, in this order:</a:t>
            </a:r>
          </a:p>
          <a:p/>
          <a:p>
            <a:r>
              <a:t>| Model | CAGR | Max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 80/20 | 12.53% | -27.33% |</a:t>
            </a:r>
          </a:p>
          <a:p>
            <a:r>
              <a:t>| Static 70/30 | 11.26% | -24.08% |</a:t>
            </a:r>
          </a:p>
          <a:p>
            <a:r>
              <a:t>| Absolute12 | 11.26% | -33.68% |</a:t>
            </a:r>
          </a:p>
          <a:p>
            <a:r>
              <a:t>| SMA10 | 7.85% | -28.19% |</a:t>
            </a:r>
          </a:p>
          <a:p/>
          <a:p>
            <a:r>
              <a:t>Static splits mean SPY/BIL, **not** stock/aggregate-bond portfolios. The 4/4 and 9/11</a:t>
            </a:r>
          </a:p>
          <a:p>
            <a:r>
              <a:t>counts refer to completed defensive cycles losing relative wealth versus SPY,</a:t>
            </a:r>
          </a:p>
          <a:p>
            <a:r>
              <a:t>including switching costs, not a generic count of losing calendar periods.</a:t>
            </a:r>
          </a:p>
          <a:p>
            <a:r>
              <a:t>### Speaker note summary</a:t>
            </a:r>
          </a:p>
          <a:p>
            <a:r>
              <a:t>Similar rounded CAGR can hide very different drawdowns. Trend is weak, not a</a:t>
            </a:r>
          </a:p>
          <a:p>
            <a:r>
              <a:t>success story. Verification of actual closes remains a gate, not license to retune.</a:t>
            </a:r>
          </a:p>
          <a:p>
            <a:r>
              <a:t>### Evidence</a:t>
            </a:r>
          </a:p>
          <a:p>
            <a:r>
              <a:t>[Committed metrics](../research/etf_trend/results/metrics.csv),</a:t>
            </a:r>
          </a:p>
          <a:p>
            <a:r>
              <a:t>[whipsaws](../research/etf_trend/results/whipsaw_summary.csv),</a:t>
            </a:r>
          </a:p>
          <a:p>
            <a:r>
              <a:t>[validated report](../docs/etf-trend-validation.md).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1:15 · 3:30–4:45 · about 0:40 speaking + 0:35 navigation</a:t>
            </a:r>
          </a:p>
          <a:p/>
          <a:p>
            <a:r>
              <a:t>### Goal</a:t>
            </a:r>
          </a:p>
          <a:p/>
          <a:p>
            <a:r>
              <a:t>Demonstrate the seven implemented stages while keeping synthetic output separate</a:t>
            </a:r>
          </a:p>
          <a:p>
            <a:r>
              <a:t>from real research.</a:t>
            </a:r>
          </a:p>
          <a:p/>
          <a:p>
            <a:r>
              <a:t>### Script</a:t>
            </a:r>
          </a:p>
          <a:p/>
          <a:p>
            <a:r>
              <a:t>This is a live walkthrough of a synthetic dry run, not live trading. The agent</a:t>
            </a:r>
          </a:p>
          <a:p>
            <a:r>
              <a:t>proposes a planted hypothesis.</a:t>
            </a:r>
          </a:p>
          <a:p/>
          <a:p>
            <a:r>
              <a:t>The experiment fixes fictional instruments, timing, and costs before calculation.</a:t>
            </a:r>
          </a:p>
          <a:p/>
          <a:p>
            <a:r>
              <a:t>The backtest uses synthetic monthly valuations, not market fills.</a:t>
            </a:r>
          </a:p>
          <a:p/>
          <a:p>
            <a:r>
              <a:t>The controls challenge the mechanics; they don't validate alpha.</a:t>
            </a:r>
          </a:p>
          <a:p/>
          <a:p>
            <a:r>
              <a:t>The tournament rejects Weak and Null. The survivor is demo-only; the portfolio</a:t>
            </a:r>
          </a:p>
          <a:p>
            <a:r>
              <a:t>keeps most capital in cash.</a:t>
            </a:r>
          </a:p>
          <a:p/>
          <a:p>
            <a:r>
              <a:t>The RiskGate checks one proposed buy against supplied demo state.</a:t>
            </a:r>
          </a:p>
          <a:p/>
          <a:p>
            <a:r>
              <a:t>Execution says would submit, never submitted. The receipt binds the evidence.</a:t>
            </a:r>
          </a:p>
          <a:p>
            <a:r>
              <a:t>Let's look at that capital boundary.</a:t>
            </a:r>
          </a:p>
          <a:p/>
          <a:p>
            <a:r>
              <a:t>### Presenter cues — not spoken</a:t>
            </a:r>
          </a:p>
          <a:p/>
          <a:p>
            <a:r>
              <a:t>Use the [75-second runbook](demo-runbook.md#the-75-second-slide-7-walkthrough).</a:t>
            </a:r>
          </a:p>
          <a:p>
            <a:r>
              <a:t>Alt+Tab / Command+Tab to the prepared terminal; run the prepared offline command.</a:t>
            </a:r>
          </a:p>
          <a:p>
            <a:r>
              <a:t>**All seven stages finish and print at once.** Narrate the completed output by</a:t>
            </a:r>
          </a:p>
          <a:p>
            <a:r>
              <a:t>scrolling or finding dashboard section titles; do not wait for nonexistent</a:t>
            </a:r>
          </a:p>
          <a:p>
            <a:r>
              <a:t>interactive prompts.</a:t>
            </a:r>
          </a:p>
          <a:p/>
          <a:p>
            <a:r>
              <a:t>Keep `MODE: DEMO | DATA: SYNTHETIC / FIXTURE | LIVE TRADING: DISABLED` visible</a:t>
            </a:r>
          </a:p>
          <a:p>
            <a:r>
              <a:t>at the start. The fictional symbols are `DEMO_UP`, `DEMO_WEAK`, and `DEMO_NULL`;</a:t>
            </a:r>
          </a:p>
          <a:p>
            <a:r>
              <a:t>the demo's compressed three-period, skip-latest signal is **not** the real</a:t>
            </a:r>
          </a:p>
          <a:p>
            <a:r>
              <a:t>sector study's 12-1 rule. Demo costs are **10 bps**, not slide 6's 20 bps stress.</a:t>
            </a:r>
          </a:p>
          <a:p/>
          <a:p>
            <a:r>
              <a:t>If the CLI is not ready within five seconds, switch to the prerecorded fallback</a:t>
            </a:r>
          </a:p>
          <a:p>
            <a:r>
              <a:t>and explicitly replace the live claim with the runbook's failure disclosure.</a:t>
            </a:r>
          </a:p>
          <a:p>
            <a:r>
              <a:t>Do not restart the 75-second clock.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uv run aql demo</a:t>
            </a:r>
          </a:p>
          <a:p>
            <a:r>
              <a:t>Hypothesis → Experiment → Backtest</a:t>
            </a:r>
          </a:p>
          <a:p>
            <a:r>
              <a:t>✓ Controls → Tournament → Portfolio</a:t>
            </a:r>
          </a:p>
          <a:p>
            <a:r>
              <a:t>✓ RiskGate → DRY RUN</a:t>
            </a:r>
          </a:p>
          <a:p>
            <a:r>
              <a:t>LIVE TRADING: OFF</a:t>
            </a:r>
          </a:p>
          <a:p>
            <a:r>
              <a:t>DATA: DEMO FIXTURE</a:t>
            </a:r>
          </a:p>
          <a:p>
            <a:r>
              <a:t>EXECUTION: DRY RUN</a:t>
            </a:r>
          </a:p>
          <a:p>
            <a:r>
              <a:t>Scripted agent. No LLM call. No market-data API.</a:t>
            </a:r>
          </a:p>
          <a:p>
            <a:r>
              <a:t>Prepared offline: uv run --offline --no-sync aql demo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Command dominates the upper half. Large flow lines underneath with mint</a:t>
            </a:r>
          </a:p>
          <a:p>
            <a:r>
              <a:t>checkmarks on computed controls, not real profitability. Persistent safety badges.</a:t>
            </a:r>
          </a:p>
          <a:p>
            <a:r>
              <a:t>### Speaker note summary</a:t>
            </a:r>
          </a:p>
          <a:p>
            <a:r>
              <a:t>Switch to terminal and local HTML. Explain the synthetic path and all seven</a:t>
            </a:r>
          </a:p>
          <a:p>
            <a:r>
              <a:t>stages. Completed output can be scrolled; the CLI does not pause interactively.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0:30 · 4:45–5:15</a:t>
            </a:r>
          </a:p>
          <a:p/>
          <a:p>
            <a:r>
              <a:t>### Goal</a:t>
            </a:r>
          </a:p>
          <a:p/>
          <a:p>
            <a:r>
              <a:t>Describe the actual RiskGate illustration and its limits.</a:t>
            </a:r>
          </a:p>
          <a:p/>
          <a:p>
            <a:r>
              <a:t>### Script</a:t>
            </a:r>
          </a:p>
          <a:p/>
          <a:p>
            <a:r>
              <a:t>Here, the proposal is ten fictional shares, about nineteen hundred and twenty</a:t>
            </a:r>
          </a:p>
          <a:p>
            <a:r>
              <a:t>dollars. It fits below the two-thousand-dollar order cap, the</a:t>
            </a:r>
          </a:p>
          <a:p>
            <a:r>
              <a:t>twenty-five-hundred-dollar position cap, and twenty-five-percent concentration.</a:t>
            </a:r>
          </a:p>
          <a:p/>
          <a:p>
            <a:r>
              <a:t>Those checks use a supplied ten-thousand-dollar, all-cash snapshot and a fixed</a:t>
            </a:r>
          </a:p>
          <a:p>
            <a:r>
              <a:t>scenario clock, not wall time. There's no broker reconciliation, and live</a:t>
            </a:r>
          </a:p>
          <a:p>
            <a:r>
              <a:t>execution is disabled. Agents propose; deterministic controls decide.</a:t>
            </a:r>
          </a:p>
          <a:p>
            <a:r>
              <a:t>So where does AI belong?</a:t>
            </a:r>
          </a:p>
          <a:p/>
          <a:p>
            <a:r>
              <a:t>### Presenter cues — not spoken</a:t>
            </a:r>
          </a:p>
          <a:p/>
          <a:p>
            <a:r>
              <a:t>- Actual fixture intent: **BUY 10 DEMO_UP**, estimated **$1,919.92** at the</a:t>
            </a:r>
          </a:p>
          <a:p>
            <a:r>
              <a:t>  fixture reference price; not an executed order or market quote.</a:t>
            </a:r>
          </a:p>
          <a:p>
            <a:r>
              <a:t>- Order cap **$2,000**; position cap **$2,500**; concentration limit **25%**.</a:t>
            </a:r>
          </a:p>
          <a:p>
            <a:r>
              <a:t>  Supplied snapshot: **$10,000 equity, $10,000 cash, no positions**.</a:t>
            </a:r>
          </a:p>
          <a:p>
            <a:r>
              <a:t>- Target allocation is 20%; whole-share rounding leaves roughly **$8,080.08**</a:t>
            </a:r>
          </a:p>
          <a:p>
            <a:r>
              <a:t>  hypothetical cash before any actual execution. This is one BUY intent, not a</a:t>
            </a:r>
          </a:p>
          <a:p>
            <a:r>
              <a:t>  reconciled account, multi-order rebalance, or continuously enforced live book.</a:t>
            </a:r>
          </a:p>
          <a:p>
            <a:r>
              <a:t>- The gate also checks allowed symbols/instruments, positive whole-share</a:t>
            </a:r>
          </a:p>
          <a:p>
            <a:r>
              <a:t>  long-only BUY, no leverage, snapshot consistency, dry-run mode, disabled live</a:t>
            </a:r>
          </a:p>
          <a:p>
            <a:r>
              <a:t>  execution, and decision freshness. The execution adapter evaluates the gate</a:t>
            </a:r>
          </a:p>
          <a:p>
            <a:r>
              <a:t>  again. A failed check blocks the dry run.</a:t>
            </a:r>
          </a:p>
          <a:p>
            <a:r>
              <a:t>- Clock: **2025-01-01T00:00:00+00:00**, fixed scenario time; not wall-clock</a:t>
            </a:r>
          </a:p>
          <a:p>
            <a:r>
              <a:t>  freshness or actual audit-event time. Hashes bind contents, not truth or alpha.</a:t>
            </a:r>
          </a:p>
          <a:p>
            <a:r>
              <a:t>  Receipt/provenance remain separate from the unchanged Phase 0 ledger.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ORDER INTENT</a:t>
            </a:r>
          </a:p>
          <a:p>
            <a:r>
              <a:t>BUY 10</a:t>
            </a:r>
          </a:p>
          <a:p>
            <a:r>
              <a:t>DEMO_UP</a:t>
            </a:r>
          </a:p>
          <a:p>
            <a:r>
              <a:t>≈ $1,919.92</a:t>
            </a:r>
          </a:p>
          <a:p>
            <a:r>
              <a:t>FIXTURE ONLY</a:t>
            </a:r>
          </a:p>
          <a:p>
            <a:r>
              <a:t>RISK GATE</a:t>
            </a:r>
          </a:p>
          <a:p>
            <a:r>
              <a:t>✓ Approved symbol / instrument</a:t>
            </a:r>
          </a:p>
          <a:p>
            <a:r>
              <a:t>✓ Long-only · no leverage</a:t>
            </a:r>
          </a:p>
          <a:p>
            <a:r>
              <a:t>✓ Order / position / concentration</a:t>
            </a:r>
          </a:p>
          <a:p>
            <a:r>
              <a:t>✓ Fresh decision · valid snapshot</a:t>
            </a:r>
          </a:p>
          <a:p>
            <a:r>
              <a:t>✓ Live execution disabled</a:t>
            </a:r>
          </a:p>
          <a:p>
            <a:r>
              <a:t>EXECUTION</a:t>
            </a:r>
          </a:p>
          <a:p>
            <a:r>
              <a:t>DRY RUN</a:t>
            </a:r>
          </a:p>
          <a:p>
            <a:r>
              <a:t>Robinhood</a:t>
            </a:r>
          </a:p>
          <a:p>
            <a:r>
              <a:t>DISCONNECTED</a:t>
            </a:r>
          </a:p>
          <a:p>
            <a:r>
              <a:t>Agents propose. RiskGate authorizes a dry run.</a:t>
            </a:r>
          </a:p>
          <a:p>
            <a:r>
              <a:t>One BUY / supplied demo state. No broker reconciliation.</a:t>
            </a:r>
          </a:p>
          <a:p>
            <a:r>
              <a:t>Future design: broker credentials stay outside research agents.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Order card enters a large central risk gate and exits to dry-run adapter. Future</a:t>
            </a:r>
          </a:p>
          <a:p>
            <a:r>
              <a:t>Robinhood is detached visually, never a green check. Avoid claiming full live</a:t>
            </a:r>
          </a:p>
          <a:p>
            <a:r>
              <a:t>portfolio enforcement; single-order scope is legible.</a:t>
            </a:r>
          </a:p>
          <a:p>
            <a:r>
              <a:t>### Speaker note summary</a:t>
            </a:r>
          </a:p>
          <a:p>
            <a:r>
              <a:t>Actual fixture order, fixed scenario clock and supplied snapshot. Adapter</a:t>
            </a:r>
          </a:p>
          <a:p>
            <a:r>
              <a:t>re-evaluates risk. A passing demo gate is not permission to place a live order.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0:25 · 5:15–5:40</a:t>
            </a:r>
          </a:p>
          <a:p/>
          <a:p>
            <a:r>
              <a:t>### Goal</a:t>
            </a:r>
          </a:p>
          <a:p/>
          <a:p>
            <a:r>
              <a:t>Position AI as a research collaborator, not an unconstrained execution engine.</a:t>
            </a:r>
          </a:p>
          <a:p/>
          <a:p>
            <a:r>
              <a:t>### Script</a:t>
            </a:r>
          </a:p>
          <a:p/>
          <a:p>
            <a:r>
              <a:t>AI's useful role is turning vague ideas into explicit tests, finding contradictory</a:t>
            </a:r>
          </a:p>
          <a:p>
            <a:r>
              <a:t>evidence, and explaining why a candidate failed.</a:t>
            </a:r>
          </a:p>
          <a:p/>
          <a:p>
            <a:r>
              <a:t>It should reduce the cost of disciplined research, not manufacture certainty</a:t>
            </a:r>
          </a:p>
          <a:p>
            <a:r>
              <a:t>or trade around safeguards. The deterministic boundary makes that reasoning</a:t>
            </a:r>
          </a:p>
          <a:p>
            <a:r>
              <a:t>inspectable. That's the value proposition—and it gives us a concrete roadmap.</a:t>
            </a:r>
          </a:p>
          <a:p/>
          <a:p>
            <a:r>
              <a:t>### Presenter cues — not spoken</a:t>
            </a:r>
          </a:p>
          <a:p/>
          <a:p>
            <a:r>
              <a:t>These are intended capabilities of a future evaluated reasoning agent. Do not</a:t>
            </a:r>
          </a:p>
          <a:p>
            <a:r>
              <a:t>claim today's scripted stand-in performed a literature search, selected new</a:t>
            </a:r>
          </a:p>
          <a:p>
            <a:r>
              <a:t>experiments autonomously, or generated the separately committed research.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AGENT / TARGET CAPABILITIES</a:t>
            </a:r>
          </a:p>
          <a:p>
            <a:r>
              <a:t>Read research · form hypotheses</a:t>
            </a:r>
          </a:p>
          <a:p>
            <a:r>
              <a:t>Interpret earnings / guidance</a:t>
            </a:r>
          </a:p>
          <a:p>
            <a:r>
              <a:t>Investigate failure regimes</a:t>
            </a:r>
          </a:p>
          <a:p>
            <a:r>
              <a:t>Propose the next experiment</a:t>
            </a:r>
          </a:p>
          <a:p>
            <a:r>
              <a:t>DETERMINISTIC CODE</a:t>
            </a:r>
          </a:p>
          <a:p>
            <a:r>
              <a:t>Returns · rankings · backtests</a:t>
            </a:r>
          </a:p>
          <a:p>
            <a:r>
              <a:t>Costs · portfolio mathematics</a:t>
            </a:r>
          </a:p>
          <a:p>
            <a:r>
              <a:t>Scientific controls · risk limits</a:t>
            </a:r>
          </a:p>
          <a:p>
            <a:r>
              <a:t>Order validation · execution</a:t>
            </a:r>
          </a:p>
          <a:p>
            <a:r>
              <a:t>Use AI for reasoning.</a:t>
            </a:r>
          </a:p>
          <a:p>
            <a:r>
              <a:t>Use code for truth.</a:t>
            </a:r>
          </a:p>
          <a:p>
            <a:r>
              <a:t>“Truth” means reproducible calculations—not certainty about markets.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Violet and mint columns. Parallel line spacing. Closing statement large and</a:t>
            </a:r>
          </a:p>
          <a:p>
            <a:r>
              <a:t>centered. Capabilities explicitly labeled target; no claim of a running LLM.</a:t>
            </a:r>
          </a:p>
          <a:p>
            <a:r>
              <a:t>### Speaker note summary</a:t>
            </a:r>
          </a:p>
          <a:p>
            <a:r>
              <a:t>Keep model reasoning useful without allowing it to replace math or self-authorize.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0:25 · 5:40–6:05</a:t>
            </a:r>
          </a:p>
          <a:p/>
          <a:p>
            <a:r>
              <a:t>### Goal</a:t>
            </a:r>
          </a:p>
          <a:p/>
          <a:p>
            <a:r>
              <a:t>Make the roadmap conditional on evidence, authorization, and new acceptance.</a:t>
            </a:r>
          </a:p>
          <a:p/>
          <a:p>
            <a:r>
              <a:t>### Script</a:t>
            </a:r>
          </a:p>
          <a:p/>
          <a:p>
            <a:r>
              <a:t>Today's deliverable is a reproducible research workflow and a dry-run boundary.</a:t>
            </a:r>
          </a:p>
          <a:p>
            <a:r>
              <a:t>Next comes qualifying missing data and testing frozen rules, then a separately</a:t>
            </a:r>
          </a:p>
          <a:p>
            <a:r>
              <a:t>evaluated reasoning agent.</a:t>
            </a:r>
          </a:p>
          <a:p/>
          <a:p>
            <a:r>
              <a:t>Paper or shadow operation would require new acceptance. Any broker integration</a:t>
            </a:r>
          </a:p>
          <a:p>
            <a:r>
              <a:t>would need explicit authorization, reconciliation, and operational controls.</a:t>
            </a:r>
          </a:p>
          <a:p>
            <a:r>
              <a:t>None is activated here. That brings me back to the point.</a:t>
            </a:r>
          </a:p>
          <a:p/>
          <a:p>
            <a:r>
              <a:t>### Presenter cues — not spoken</a:t>
            </a:r>
          </a:p>
          <a:p/>
          <a:p>
            <a:r>
              <a:t>This presentation performs no real live run, market-data acquisition, SEC</a:t>
            </a:r>
          </a:p>
          <a:p>
            <a:r>
              <a:t>request, Azure deployment/acceptance, Robinhood connection, or infrastructure</a:t>
            </a:r>
          </a:p>
          <a:p>
            <a:r>
              <a:t>change. Archived acceptance reports describe their original sessions, not a</a:t>
            </a:r>
          </a:p>
          <a:p>
            <a:r>
              <a:t>new validation. Phase 0 and its activation flags remain unchanged; historical</a:t>
            </a:r>
          </a:p>
          <a:p>
            <a:r>
              <a:t>acceptance is not permission to schedule recording or enable trading.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NOW</a:t>
            </a:r>
          </a:p>
          <a:p>
            <a:r>
              <a:t>Research +</a:t>
            </a:r>
          </a:p>
          <a:p>
            <a:r>
              <a:t>falsification</a:t>
            </a:r>
          </a:p>
          <a:p>
            <a:r>
              <a:t>Offline demo</a:t>
            </a:r>
          </a:p>
          <a:p>
            <a:r>
              <a:t>NEXT</a:t>
            </a:r>
          </a:p>
          <a:p>
            <a:r>
              <a:t>Qualified data</a:t>
            </a:r>
          </a:p>
          <a:p>
            <a:r>
              <a:t>Paper / shadow</a:t>
            </a:r>
          </a:p>
          <a:p>
            <a:r>
              <a:t>trading</a:t>
            </a:r>
          </a:p>
          <a:p>
            <a:r>
              <a:t>THEN</a:t>
            </a:r>
          </a:p>
          <a:p>
            <a:r>
              <a:t>Agent-driven</a:t>
            </a:r>
          </a:p>
          <a:p>
            <a:r>
              <a:t>strategy</a:t>
            </a:r>
          </a:p>
          <a:p>
            <a:r>
              <a:t>discovery</a:t>
            </a:r>
          </a:p>
          <a:p>
            <a:r>
              <a:t>FINALLY</a:t>
            </a:r>
          </a:p>
          <a:p>
            <a:r>
              <a:t>Risk-controlled</a:t>
            </a:r>
          </a:p>
          <a:p>
            <a:r>
              <a:t>Robinhood</a:t>
            </a:r>
          </a:p>
          <a:p>
            <a:r>
              <a:t>execution</a:t>
            </a:r>
          </a:p>
          <a:p>
            <a:r>
              <a:t>Live execution is intentionally disabled today.</a:t>
            </a:r>
          </a:p>
          <a:p>
            <a:r>
              <a:t>Promotion requires evidence—not a better story.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Four sequential milestones. NOW mint, NEXT amber, remaining muted. Future</a:t>
            </a:r>
          </a:p>
          <a:p>
            <a:r>
              <a:t>milestones unfilled; no dates, deployment claims or live-trading toggle.</a:t>
            </a:r>
          </a:p>
          <a:p>
            <a:r>
              <a:t>### Speaker note summary</a:t>
            </a:r>
          </a:p>
          <a:p>
            <a:r>
              <a:t>Data qualification and paper/shadow trading precede separately authorized execution.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0:15 · 6:05–6:20</a:t>
            </a:r>
          </a:p>
          <a:p/>
          <a:p>
            <a:r>
              <a:t>### Goal</a:t>
            </a:r>
          </a:p>
          <a:p/>
          <a:p>
            <a:r>
              <a:t>Leave the audience with disciplined restraint, not a claim of alpha.</a:t>
            </a:r>
          </a:p>
          <a:p/>
          <a:p>
            <a:r>
              <a:t>### Script</a:t>
            </a:r>
          </a:p>
          <a:p/>
          <a:p>
            <a:r>
              <a:t>This is a research lab, not a claim of profitable alpha.</a:t>
            </a:r>
          </a:p>
          <a:p/>
          <a:p>
            <a:r>
              <a:t>The goal is not an AI that trades more. It is an AI that knows when not to trade.</a:t>
            </a:r>
          </a:p>
          <a:p/>
          <a:p>
            <a:r>
              <a:t>### Presenter cues — not spoken</a:t>
            </a:r>
          </a:p>
          <a:p/>
          <a:p>
            <a:r>
              <a:t>Hold the closing slide. The final sentence is the ending; do not add another</a:t>
            </a:r>
          </a:p>
          <a:p>
            <a:r>
              <a:t>spoken summary.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The goal isn’t an AI that trades more.</a:t>
            </a:r>
          </a:p>
          <a:p>
            <a:r>
              <a:t>It’s an AI that knows</a:t>
            </a:r>
          </a:p>
          <a:p>
            <a:r>
              <a:t>when NOT to trade.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FALSIFICATION</a:t>
            </a:r>
          </a:p>
          <a:p>
            <a:r>
              <a:t>RISK</a:t>
            </a:r>
          </a:p>
          <a:p>
            <a:r>
              <a:t>Agentic Quant Lab</a:t>
            </a:r>
          </a:p>
          <a:p>
            <a:r>
              <a:t>github.com/BruceGK/agentic-quant-lab</a:t>
            </a:r>
          </a:p>
          <a:p>
            <a:r>
              <a:t>```</a:t>
            </a:r>
          </a:p>
          <a:p>
            <a:r>
              <a:t>### Visual instructions</a:t>
            </a:r>
          </a:p>
          <a:p>
            <a:r>
              <a:t>Oversized statement; NOT mint. Four restrained evidence/risk labels. Clean ending,</a:t>
            </a:r>
          </a:p>
          <a:p>
            <a:r>
              <a:t>no extra appendix and no finance disclaimer wall.</a:t>
            </a:r>
          </a:p>
          <a:p>
            <a:r>
              <a:t>### Speaker note summary</a:t>
            </a:r>
          </a:p>
          <a:p>
            <a:r>
              <a:t>Finish on disciplined abstention rather than trade frequency or promised returns.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14300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Agentic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Quant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18688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From AI-generated hypotheses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evidence-backed trading strategies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00600"/>
            <a:ext cx="64008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Agents research.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Deterministic systems decide.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1371600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2" y="1389888"/>
            <a:ext cx="3236976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B9A3FF"/>
                </a:solidFill>
                <a:latin typeface="Arial"/>
              </a:defRPr>
            </a:pPr>
            <a:r>
              <a:t>RESEARCH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60" y="2148840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818120" y="2414015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1272" y="2432303"/>
            <a:ext cx="3236976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09760" y="3191256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18120" y="3456432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1272" y="3474720"/>
            <a:ext cx="3236976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RISK GATE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60" y="4233672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818120" y="4498848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1272" y="4517136"/>
            <a:ext cx="3236976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5779008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VISION → DISCIPLINED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THE TRUST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AI can generate trades. Can we trust them?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74519"/>
            <a:ext cx="11183112" cy="1161288"/>
          </a:xfrm>
          <a:prstGeom prst="roundRect">
            <a:avLst>
              <a:gd name="adj" fmla="val 12000"/>
            </a:avLst>
          </a:prstGeom>
          <a:solidFill>
            <a:srgbClr val="25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1984248"/>
            <a:ext cx="3063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929D"/>
                </a:solidFill>
                <a:latin typeface="Arial"/>
              </a:defRPr>
            </a:pPr>
            <a:r>
              <a:t>TYPICAL AI TRADING 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2112264"/>
            <a:ext cx="2057400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5072" y="2130552"/>
            <a:ext cx="191109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929D"/>
                </a:solidFill>
                <a:latin typeface="Arial"/>
              </a:defRPr>
            </a:pPr>
            <a:r>
              <a:t>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2414016"/>
            <a:ext cx="347472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73952" y="2112264"/>
            <a:ext cx="2057400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2130552"/>
            <a:ext cx="191109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929D"/>
                </a:solidFill>
                <a:latin typeface="Arial"/>
              </a:defRPr>
            </a:pPr>
            <a:r>
              <a:t>“Bullish”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577072" y="2414016"/>
            <a:ext cx="347472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15984" y="2112264"/>
            <a:ext cx="2057400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2130552"/>
            <a:ext cx="1911095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929D"/>
                </a:solidFill>
                <a:latin typeface="Arial"/>
              </a:defRPr>
            </a:pPr>
            <a:r>
              <a:t>BUY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46120"/>
            <a:ext cx="11183112" cy="11887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56432"/>
            <a:ext cx="21214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6DE5C1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17520" y="3547872"/>
            <a:ext cx="1499616" cy="56692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3566160"/>
            <a:ext cx="1353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26279" y="3831336"/>
            <a:ext cx="16459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36592" y="3547872"/>
            <a:ext cx="1499616" cy="56692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3566160"/>
            <a:ext cx="1353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5352" y="3831336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55664" y="3547872"/>
            <a:ext cx="1499616" cy="56692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566160"/>
            <a:ext cx="1353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Falsify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64423" y="3831336"/>
            <a:ext cx="16459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174736" y="3547872"/>
            <a:ext cx="1499616" cy="56692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3566160"/>
            <a:ext cx="1353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Risk gate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683496" y="3831336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893808" y="3547872"/>
            <a:ext cx="1499616" cy="56692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3566160"/>
            <a:ext cx="1353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Trade*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5429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B1C0D4"/>
                </a:solidFill>
                <a:latin typeface="Arial"/>
              </a:defRPr>
            </a:pPr>
            <a:r>
              <a:t>Hallucinated reasoning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465429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B1C0D4"/>
                </a:solidFill>
                <a:latin typeface="Arial"/>
              </a:defRPr>
            </a:pPr>
            <a:r>
              <a:t>Backtest overfitting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65429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B1C0D4"/>
                </a:solidFill>
                <a:latin typeface="Arial"/>
              </a:defRPr>
            </a:pPr>
            <a:r>
              <a:t>Look-ahead / bad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65429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B1C0D4"/>
                </a:solidFill>
                <a:latin typeface="Arial"/>
              </a:defRPr>
            </a:pPr>
            <a:r>
              <a:t>Uncontrolled execution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468112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4F7FC"/>
                </a:solidFill>
                <a:latin typeface="Arial"/>
              </a:defRPr>
            </a:pPr>
            <a:r>
              <a:t>The hard problem is rejecting bad ideas.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807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*Future only. Today ends at dry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TARGET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An autonomous research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28800"/>
            <a:ext cx="2286000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1837943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9A3FF"/>
                </a:solidFill>
                <a:latin typeface="Arial"/>
              </a:defRPr>
            </a:pPr>
            <a:r>
              <a:t>AI / AGENTIC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828800"/>
            <a:ext cx="4800600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82696" y="1837943"/>
            <a:ext cx="4636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DETERMINISTIC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46888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487168"/>
            <a:ext cx="213969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B9A3FF"/>
                </a:solidFill>
                <a:latin typeface="Arial"/>
              </a:defRPr>
            </a:pPr>
            <a:r>
              <a:t>Research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93592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11880"/>
            <a:ext cx="213969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B9A3FF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45920" y="3182112"/>
            <a:ext cx="0" cy="374904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98064" y="3931920"/>
            <a:ext cx="201168" cy="0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999232" y="2816352"/>
            <a:ext cx="0" cy="1115568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99232" y="2816352"/>
            <a:ext cx="192024" cy="0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200400" y="24688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73552" y="24871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Experiment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81635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49240" y="24688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2392" y="24871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Backtest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60920" y="281635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498079" y="24688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71231" y="24871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09759" y="2816352"/>
            <a:ext cx="11887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646920" y="24688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20072" y="24871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Tournament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643616" y="3182112"/>
            <a:ext cx="0" cy="630936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646920" y="38404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20072" y="38587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Portfolio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500616" y="4187952"/>
            <a:ext cx="137160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98079" y="38404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71231" y="38587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7351775" y="4187952"/>
            <a:ext cx="137161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349240" y="38404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22392" y="38587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Execution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5202936" y="4187952"/>
            <a:ext cx="137160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200400" y="384048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73552" y="3858768"/>
            <a:ext cx="184708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4608576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FUTURE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5193792"/>
            <a:ext cx="11137392" cy="786384"/>
          </a:xfrm>
          <a:prstGeom prst="roundRect">
            <a:avLst>
              <a:gd name="adj" fmla="val 12000"/>
            </a:avLst>
          </a:prstGeom>
          <a:solidFill>
            <a:srgbClr val="182435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5340096"/>
            <a:ext cx="31546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90C7F6"/>
                </a:solidFill>
                <a:latin typeface="Arial"/>
              </a:defRPr>
            </a:pPr>
            <a:r>
              <a:t>EVIDENCE / PROVENANCE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9080" y="5358384"/>
            <a:ext cx="7296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C0D4"/>
                </a:solidFill>
                <a:latin typeface="Arial"/>
              </a:defRPr>
            </a:pPr>
            <a:r>
              <a:t>Hypotheses · inputs · results · risk decisions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645920" y="4315968"/>
            <a:ext cx="0" cy="850392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159752" y="3172968"/>
            <a:ext cx="256031" cy="210312"/>
          </a:xfrm>
          <a:prstGeom prst="line">
            <a:avLst/>
          </a:prstGeom>
          <a:ln w="21590">
            <a:solidFill>
              <a:srgbClr val="90C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15783" y="3383280"/>
            <a:ext cx="0" cy="1783080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494776" y="4553712"/>
            <a:ext cx="0" cy="612648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6089904"/>
            <a:ext cx="111556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Target architecture. Scripted agent today; demo receipts ≠ Phase 0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SCIENTIFIC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agent has to prove itself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NULL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90C7F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alpha.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PLANTED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6DE5C1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Known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Recover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189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LEAKAGE 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F5C978"/>
                </a:solidFill>
                <a:latin typeface="Arial"/>
              </a:defRPr>
            </a:pPr>
            <a:r>
              <a:t>t+1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189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Future data?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Reject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992624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992624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Out-of-sample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992624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Regime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992624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522976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Kill the idea. Don’t prompt-engineer a rescue.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80760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Research requirements, not a claim that the demo validates market alpha.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system is designed to say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0" y="228600"/>
            <a:ext cx="2532888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237744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5C978"/>
                </a:solidFill>
                <a:latin typeface="Arial"/>
              </a:defRPr>
            </a:pPr>
            <a:r>
              <a:t>REAL RESEARCH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1874519"/>
            <a:ext cx="11183112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1874519"/>
            <a:ext cx="50292" cy="594360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1938527"/>
            <a:ext cx="3154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4F7FC"/>
                </a:solidFill>
                <a:latin typeface="Arial"/>
              </a:defRPr>
            </a:pPr>
            <a:r>
              <a:t>ETF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938527"/>
            <a:ext cx="26060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5C978"/>
                </a:solidFill>
                <a:latin typeface="Arial"/>
              </a:defRPr>
            </a:pPr>
            <a:r>
              <a:t>RESEARCH MORE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1938527"/>
            <a:ext cx="485546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B1C0D4"/>
                </a:solidFill>
                <a:latin typeface="Arial"/>
              </a:defRPr>
            </a:pPr>
            <a:r>
              <a:t>Weak versus static de-risking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569463"/>
            <a:ext cx="11183112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569463"/>
            <a:ext cx="50292" cy="594360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633471"/>
            <a:ext cx="3154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4F7FC"/>
                </a:solidFill>
                <a:latin typeface="Arial"/>
              </a:defRPr>
            </a:pPr>
            <a:r>
              <a:t>Stock Momentum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2633471"/>
            <a:ext cx="26060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2633471"/>
            <a:ext cx="485546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B1C0D4"/>
                </a:solidFill>
                <a:latin typeface="Arial"/>
              </a:defRPr>
            </a:pPr>
            <a:r>
              <a:t>Historical universe + delistings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264408"/>
            <a:ext cx="11183112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264408"/>
            <a:ext cx="50292" cy="594360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3328415"/>
            <a:ext cx="3154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4F7FC"/>
                </a:solidFill>
                <a:latin typeface="Arial"/>
              </a:defRPr>
            </a:pPr>
            <a:r>
              <a:t>Momentum +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328415"/>
            <a:ext cx="26060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328415"/>
            <a:ext cx="485546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B1C0D4"/>
                </a:solidFill>
                <a:latin typeface="Arial"/>
              </a:defRPr>
            </a:pPr>
            <a:r>
              <a:t>Stock history + PIT fundamentals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959352"/>
            <a:ext cx="11183112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959352"/>
            <a:ext cx="50292" cy="594360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4023360"/>
            <a:ext cx="3154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4F7FC"/>
                </a:solidFill>
                <a:latin typeface="Arial"/>
              </a:defRPr>
            </a:pPr>
            <a:r>
              <a:t>PEAD / Earnings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4023360"/>
            <a:ext cx="26060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5C978"/>
                </a:solidFill>
                <a:latin typeface="Arial"/>
              </a:defRPr>
            </a:pPr>
            <a:r>
              <a:t>DEFER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4023360"/>
            <a:ext cx="485546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B1C0D4"/>
                </a:solidFill>
                <a:latin typeface="Arial"/>
              </a:defRPr>
            </a:pPr>
            <a:r>
              <a:t>Consensus blocked; price route gated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654296"/>
            <a:ext cx="11183112" cy="594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654296"/>
            <a:ext cx="50292" cy="594360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4718304"/>
            <a:ext cx="3154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4F7FC"/>
                </a:solidFill>
                <a:latin typeface="Arial"/>
              </a:defRPr>
            </a:pPr>
            <a:r>
              <a:t>ETF Relative Momentum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4718304"/>
            <a:ext cx="26060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0C7F6"/>
                </a:solidFill>
                <a:latin typeface="Arial"/>
              </a:defRPr>
            </a:pPr>
            <a:r>
              <a:t>NOT YET TESTED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4718304"/>
            <a:ext cx="4855464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B1C0D4"/>
                </a:solidFill>
                <a:latin typeface="Arial"/>
              </a:defRPr>
            </a:pPr>
            <a:r>
              <a:t>Frozen protocol; runner DNS blocked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495544"/>
            <a:ext cx="111831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Missing evidence is not an economic rejection.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89904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Phase 0: historical evidence acceptance recorded. No production strategy claimed.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Trend looked promising—until we tested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810512"/>
            <a:ext cx="109728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5C978"/>
                </a:solidFill>
                <a:latin typeface="Arial"/>
              </a:defRPr>
            </a:pPr>
            <a:r>
              <a:t>REAL RESEARCH · EXPLORATORY / NAV-BASED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148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2016-01-04 → 2026-07-31 · SPY / BIL · 20 bps one-way costs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2615184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6DE5C1"/>
                </a:solidFill>
                <a:latin typeface="Arial"/>
              </a:defRPr>
            </a:pPr>
            <a:r>
              <a:t>CAGR 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615184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90C7F6"/>
                </a:solidFill>
                <a:latin typeface="Arial"/>
              </a:defRPr>
            </a:pPr>
            <a:r>
              <a:t>MAX DRAWDOWN ↓ magnitude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086100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3122676"/>
            <a:ext cx="2619822" cy="201168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3086100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15.03%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122676"/>
            <a:ext cx="2063685" cy="201168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2" y="3086100"/>
            <a:ext cx="1536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7929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80/20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2928" y="3515868"/>
            <a:ext cx="2183667" cy="201168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3479292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12.53%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3515868"/>
            <a:ext cx="1674457" cy="201168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1552" y="3479292"/>
            <a:ext cx="1536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-27.33%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72483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70/30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909059"/>
            <a:ext cx="1962374" cy="201168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872483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3909059"/>
            <a:ext cx="1475024" cy="201168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1552" y="3872483"/>
            <a:ext cx="1536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-24.08%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265675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Absolute12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2928" y="4302251"/>
            <a:ext cx="1962831" cy="201168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0" y="4265675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79" y="4302251"/>
            <a:ext cx="2063685" cy="201168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31552" y="4265675"/>
            <a:ext cx="1536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58868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SMA10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28" y="4695444"/>
            <a:ext cx="1368367" cy="201168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0" y="4658868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7.85%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695444"/>
            <a:ext cx="1726766" cy="201168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31552" y="4658868"/>
            <a:ext cx="1536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-28.19%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52928" y="5056632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0                    8                   16%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5056632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0                  20                  40%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449824"/>
            <a:ext cx="554126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4F7FC"/>
                </a:solidFill>
                <a:latin typeface="Arial"/>
              </a:defRPr>
            </a:pPr>
            <a:r>
              <a:t>Absolute12: no worst-drawdown benefit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5449824"/>
            <a:ext cx="533095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4F7FC"/>
                </a:solidFill>
                <a:latin typeface="Arial"/>
              </a:defRPr>
            </a:pPr>
            <a:r>
              <a:t>SMA10: COVID protection, then missed rebound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815584"/>
            <a:ext cx="11064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5C978"/>
                </a:solidFill>
                <a:latin typeface="Arial"/>
              </a:defRPr>
            </a:pPr>
            <a:r>
              <a:t>Losing defensive cycles: Absolute12 4/4 · SMA10 9/11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1996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Rules stayed frozen. No optimization around the failure.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530352"/>
            <a:ext cx="109728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NAV proxy ≠ executable closes. Not production-ready.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DEMO FIXTURE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One command. Research to dry run.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47672"/>
            <a:ext cx="11183112" cy="10607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19456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6DE5C1"/>
                </a:solidFill>
                <a:latin typeface="Arial"/>
              </a:defRPr>
            </a:pPr>
            <a: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2167128"/>
            <a:ext cx="10040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F7FC"/>
                </a:solidFill>
                <a:latin typeface="Arial"/>
              </a:defRPr>
            </a:pPr>
            <a:r>
              <a:t>uv run aql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F7FC"/>
                </a:solidFill>
                <a:latin typeface="Arial"/>
              </a:defRPr>
            </a:pPr>
            <a:r>
              <a:t>Hypothesis → Experiment → Backtest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✓ Controls → Tournament →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70832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✓ RiskGate → DRY RUN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66944"/>
            <a:ext cx="359359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52760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LIVE TRADING: 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266944"/>
            <a:ext cx="359359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79976" y="52760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5C978"/>
                </a:solidFill>
                <a:latin typeface="Arial"/>
              </a:defRPr>
            </a:pPr>
            <a:r>
              <a:t>DATA: DEMO FIXTURE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5266944"/>
            <a:ext cx="359359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4736" y="52760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EXECUTION: DRY RUN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15584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C0D4"/>
                </a:solidFill>
                <a:latin typeface="Arial"/>
              </a:defRPr>
            </a:pPr>
            <a:r>
              <a:t>Scripted agent. No LLM call. No market-data API.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17920"/>
            <a:ext cx="111831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Prepared offline: uv run --offline --no-sync aql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DEMO FIXTURE /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Agents never get direct control of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231136"/>
            <a:ext cx="2395728" cy="25786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404872"/>
            <a:ext cx="1984248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9A3FF"/>
                </a:solidFill>
                <a:latin typeface="Arial"/>
              </a:defRPr>
            </a:pPr>
            <a:r>
              <a:t>ORDER 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926080"/>
            <a:ext cx="198424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4F7FC"/>
                </a:solidFill>
                <a:latin typeface="Arial"/>
              </a:defRPr>
            </a:pPr>
            <a:r>
              <a:t>BUY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74136"/>
            <a:ext cx="1984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4F7FC"/>
                </a:solidFill>
                <a:latin typeface="Arial"/>
              </a:defRPr>
            </a:pPr>
            <a:r>
              <a:t>DEMO_UP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31336"/>
            <a:ext cx="198424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DE5C1"/>
                </a:solidFill>
                <a:latin typeface="Arial"/>
              </a:defRPr>
            </a:pPr>
            <a:r>
              <a:t>≈ $1,919.92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89120"/>
            <a:ext cx="19842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FIXTURE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44368" y="3520440"/>
            <a:ext cx="402336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401568" y="1956816"/>
            <a:ext cx="5111496" cy="340156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2185416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6DE5C1"/>
                </a:solidFill>
                <a:latin typeface="Arial"/>
              </a:defRPr>
            </a:pPr>
            <a:r>
              <a:t>RISK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926080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4F7FC"/>
                </a:solidFill>
                <a:latin typeface="Arial"/>
              </a:defRPr>
            </a:pPr>
            <a:r>
              <a:t>✓ Approved symbol / instrument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346704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4F7FC"/>
                </a:solidFill>
                <a:latin typeface="Arial"/>
              </a:defRPr>
            </a:pPr>
            <a:r>
              <a:t>✓ Long-only · no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767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4F7FC"/>
                </a:solidFill>
                <a:latin typeface="Arial"/>
              </a:defRPr>
            </a:pPr>
            <a:r>
              <a:t>✓ Order / position /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187952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4F7FC"/>
                </a:solidFill>
                <a:latin typeface="Arial"/>
              </a:defRPr>
            </a:pPr>
            <a:r>
              <a:t>✓ Fresh decision · valid snapshot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60857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4F7FC"/>
                </a:solidFill>
                <a:latin typeface="Arial"/>
              </a:defRPr>
            </a:pPr>
            <a:r>
              <a:t>✓ Live execution disabled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40496" y="3520440"/>
            <a:ext cx="420624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16568" y="230428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1C0D4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25128" y="2862072"/>
            <a:ext cx="2660904" cy="78638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2880360"/>
            <a:ext cx="2514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105656"/>
            <a:ext cx="2395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456285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5C978"/>
                </a:solidFill>
                <a:latin typeface="Arial"/>
              </a:defRPr>
            </a:pPr>
            <a:r>
              <a:t>DISCONNECTED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577840"/>
            <a:ext cx="1118311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Agents propose. RiskGate authorizes a dry run.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099048"/>
            <a:ext cx="5989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One BUY / supplied demo state. No broker reconciliation.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6099048"/>
            <a:ext cx="523951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B1C0D4"/>
                </a:solidFill>
                <a:latin typeface="Arial"/>
              </a:defRPr>
            </a:pPr>
            <a:r>
              <a:t>Future design: broker credentials stay outside research agents.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DIVISION OF RESPONSIBILITY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Where AI actually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5422392" cy="31089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B9A3FF"/>
                </a:solidFill>
                <a:latin typeface="Arial"/>
              </a:defRPr>
            </a:pPr>
            <a:r>
              <a:t>AGENT / TARGET CAPABILITIES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834640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Read research · form hypotheses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00984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Interpret earnings / guidance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6732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Investigate failure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3367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Propose the next experiment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56816"/>
            <a:ext cx="5422392" cy="31089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6DE5C1"/>
                </a:solidFill>
                <a:latin typeface="Arial"/>
              </a:defRPr>
            </a:pPr>
            <a:r>
              <a:t>DETERMINISTIC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34640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Returns · rankings · backtests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300984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Costs · portfolio mathematics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6732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Scientific controls · risk limits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23367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Order validation · execution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49240"/>
            <a:ext cx="56235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B9A3FF"/>
                </a:solidFill>
                <a:latin typeface="Arial"/>
              </a:defRPr>
            </a:pPr>
            <a:r>
              <a:t>Use AI for reasoning.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349240"/>
            <a:ext cx="5422392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6DE5C1"/>
                </a:solidFill>
                <a:latin typeface="Arial"/>
              </a:defRPr>
            </a:pPr>
            <a:r>
              <a:t>Use code for truth.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108192"/>
            <a:ext cx="11183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“Truth” means reproducible calculations—not certainty about markets.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EVIDENCE BEFORE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58952"/>
            <a:ext cx="111556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From research lab to autonomous trading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099816"/>
            <a:ext cx="2148840" cy="1490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Research 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falsification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Offline demo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7238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7530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3099816"/>
            <a:ext cx="2148840" cy="1490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Qualified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Paper / shadow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trading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5274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THEN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099816"/>
            <a:ext cx="2148840" cy="1490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Agent-driven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strategy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discovery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3310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14400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602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FINALLY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6024" y="3099816"/>
            <a:ext cx="2148840" cy="1490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Risk-controlled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Robinhood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13832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6DE5C1"/>
                </a:solidFill>
                <a:latin typeface="Arial"/>
              </a:defRPr>
            </a:pPr>
            <a:r>
              <a:t>Live execution is intentionally disabled today.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10819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Promotion requires evidence—not a better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DE5C1"/>
                </a:solidFill>
                <a:latin typeface="Arial"/>
              </a:defRPr>
            </a:pPr>
            <a:r>
              <a:t>AQL / 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3737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09944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197864"/>
            <a:ext cx="111831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B1C0D4"/>
                </a:solidFill>
                <a:latin typeface="Arial"/>
              </a:defRPr>
            </a:pPr>
            <a:r>
              <a:t>The goal isn’t an AI that trades more.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30552"/>
            <a:ext cx="11183112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4F7FC"/>
                </a:solidFill>
                <a:latin typeface="Arial"/>
              </a:defRPr>
            </a:pPr>
            <a:r>
              <a:t>It’s an AI that knows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54096"/>
            <a:ext cx="11183112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6DE5C1"/>
                </a:solidFill>
                <a:latin typeface="Arial"/>
              </a:defRPr>
            </a:pPr>
            <a:r>
              <a:t>when NOT to trade.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00600"/>
            <a:ext cx="254203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4809744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800600"/>
            <a:ext cx="254203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65576" y="4809744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800600"/>
            <a:ext cx="254203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4809744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800600"/>
            <a:ext cx="2542032" cy="39319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296" y="4809744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DE5C1"/>
                </a:solidFill>
                <a:latin typeface="Arial"/>
              </a:defRPr>
            </a:pPr>
            <a:r>
              <a:t>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641848"/>
            <a:ext cx="47548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F7FC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705856"/>
            <a:ext cx="5833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github.com/BruceGK/agentic-quant-lab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Quant Lab</dc:title>
  <dc:subject>Evidence-first research; synthetic offline demonstration</dc:subject>
  <dc:creator>Agentic Quant Lab</dc:creator>
  <cp:keywords>research, evidence, falsification, risk, dry run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